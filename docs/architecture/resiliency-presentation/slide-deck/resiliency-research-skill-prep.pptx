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147483449" r:id="rId3"/>
    <p:sldId id="258" r:id="rId4"/>
    <p:sldId id="257" r:id="rId5"/>
    <p:sldId id="259" r:id="rId6"/>
    <p:sldId id="260" r:id="rId7"/>
    <p:sldId id="261" r:id="rId8"/>
    <p:sldId id="265" r:id="rId9"/>
    <p:sldId id="266" r:id="rId10"/>
    <p:sldId id="267" r:id="rId11"/>
    <p:sldId id="268" r:id="rId12"/>
    <p:sldId id="269" r:id="rId13"/>
    <p:sldId id="2147483450" r:id="rId19"/>
    <p:sldId id="214748345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341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session walks through how we automated the entire resiliency review process for a five-service e-commerce platform using GitHub Copilot Skills and structured prompt engineering. By the end, you will understand both what the skill does and why it matters for scaling this practice across every repository.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vision was simple: make the highest-quality resiliency review available to any engineer on any team, for any repository, in a repeatable and auditable way. Not a checklist — a full evidence-grounded analysis that produces actionable, prioritized output.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Manual resiliency reviews have three fundamental problems. They take too long, they produce inconsistent outputs that can't be compared across teams, and they simply don't scale when you have 30 or 40 services all moving toward an active/active architecture simultaneously.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is a structured prompt orchestration framework built on GitHub Copilot. It lives in the repository, it knows the platform context, and when invoked it runs autonomously through four phases — producing four structured deliverables at the end. No analyst hours required.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and 2 are strictly evidence-only — no recommendations, no code examples. The AI acts as a forensic analyst. Phase 3 consolidates everything. Phase 4 is where the planning prompts take all the evidence and produce the deliverables the team can act on immediately.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design decision was separating evidence collection from planning. The research phases are forensic — the AI is not allowed to recommend fixes. This means the planning phase works from a grounded evidence base, not from speculative analysis. Every finding that makes it into the final reports has a file path and line number behind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skill produces three distinct documents tailored to three different audiences. Leadership gets the Master Report. Engineering teams get the Developer Guide they can execute independently. The Architecture Review Board gets the WAF-aligned Code-Level Assessment with standards references. One run of the skill — three audiences served.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captures what actually changed. The most important dimension is reproducibility — the skill can be re-run after code changes to verify findings are resolved. That closes the loop between research, implementation, and validation in a way that manual reviews simply cannot.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call to action is simple. The skill is a template. You copy it, update the platform context for your customer, and run it. The entire framework — prompts, instructions, skill orchestration — is designed to be carried from engagement to engagement with minimal customization.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3481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731520" y="1645920"/>
            <a:ext cx="10058400" cy="707886"/>
          </a:xfrm>
          <a:prstGeom prst="rect">
            <a:avLst/>
          </a:prstGeom>
          <a:noFill/>
        </p:spPr>
        <p:txBody>
          <a:bodyPr wrap="square">
            <a:spAutoFit/>
          </a:bodyPr>
          <a:lstStyle/>
          <a:p>
            <a:pPr algn="l"/>
            <a:r>
              <a:rPr lang="en-US" sz="4000" b="1" i="0" dirty="0">
                <a:solidFill>
                  <a:srgbClr val="F8F8FC"/>
                </a:solidFill>
                <a:latin typeface="Segoe UI"/>
              </a:rPr>
              <a:t>HVE Use Case – Albertsons</a:t>
            </a:r>
            <a:endParaRPr sz="4000" b="1" i="0" dirty="0">
              <a:solidFill>
                <a:srgbClr val="F8F8FC"/>
              </a:solidFill>
              <a:latin typeface="Segoe UI"/>
            </a:endParaRPr>
          </a:p>
        </p:txBody>
      </p:sp>
      <p:sp>
        <p:nvSpPr>
          <p:cNvPr id="4" name="TextBox 3"/>
          <p:cNvSpPr txBox="1"/>
          <p:nvPr/>
        </p:nvSpPr>
        <p:spPr>
          <a:xfrm>
            <a:off x="731520" y="2880360"/>
            <a:ext cx="9601200" cy="400110"/>
          </a:xfrm>
          <a:prstGeom prst="rect">
            <a:avLst/>
          </a:prstGeom>
          <a:noFill/>
        </p:spPr>
        <p:txBody>
          <a:bodyPr wrap="square">
            <a:spAutoFit/>
          </a:bodyPr>
          <a:lstStyle/>
          <a:p>
            <a:pPr algn="l"/>
            <a:r>
              <a:rPr lang="en-US" sz="2000" b="0" i="0" dirty="0">
                <a:solidFill>
                  <a:srgbClr val="9CA3AF"/>
                </a:solidFill>
                <a:latin typeface="Segoe UI"/>
              </a:rPr>
              <a:t>Leveraging HVE Agents using GitHub Skill</a:t>
            </a:r>
            <a:endParaRPr sz="2000" b="0" i="0" dirty="0">
              <a:solidFill>
                <a:srgbClr val="9CA3AF"/>
              </a:solidFill>
              <a:latin typeface="Segoe UI"/>
            </a:endParaRPr>
          </a:p>
        </p:txBody>
      </p:sp>
      <p:sp>
        <p:nvSpPr>
          <p:cNvPr id="5" name="TextBox 4"/>
          <p:cNvSpPr txBox="1"/>
          <p:nvPr/>
        </p:nvSpPr>
        <p:spPr>
          <a:xfrm>
            <a:off x="731520" y="3611880"/>
            <a:ext cx="10058400" cy="307777"/>
          </a:xfrm>
          <a:prstGeom prst="rect">
            <a:avLst/>
          </a:prstGeom>
          <a:noFill/>
        </p:spPr>
        <p:txBody>
          <a:bodyPr wrap="square">
            <a:spAutoFit/>
          </a:bodyPr>
          <a:lstStyle/>
          <a:p>
            <a:r>
              <a:rPr sz="1400" b="0" i="0" dirty="0">
                <a:solidFill>
                  <a:srgbClr val="9CA3AF"/>
                </a:solidFill>
                <a:latin typeface="Segoe UI"/>
              </a:rPr>
              <a:t>GitHub Copilot Skills</a:t>
            </a:r>
            <a:r>
              <a:rPr sz="1400" b="0" i="0" dirty="0">
                <a:solidFill>
                  <a:srgbClr val="0078D4"/>
                </a:solidFill>
                <a:latin typeface="Segoe UI"/>
              </a:rPr>
              <a:t>  |  </a:t>
            </a:r>
            <a:r>
              <a:rPr lang="en-US" sz="1400" b="0" i="0" dirty="0">
                <a:solidFill>
                  <a:srgbClr val="9CA3AF"/>
                </a:solidFill>
                <a:latin typeface="Segoe UI"/>
              </a:rPr>
              <a:t>Instructions </a:t>
            </a:r>
            <a:r>
              <a:rPr sz="1400" b="0" i="0" dirty="0">
                <a:solidFill>
                  <a:srgbClr val="0078D4"/>
                </a:solidFill>
                <a:latin typeface="Segoe UI"/>
              </a:rPr>
              <a:t>|  </a:t>
            </a:r>
            <a:r>
              <a:rPr lang="en-US" sz="1400" b="0" i="0" dirty="0">
                <a:solidFill>
                  <a:srgbClr val="9CA3AF"/>
                </a:solidFill>
                <a:latin typeface="Segoe UI"/>
              </a:rPr>
              <a:t>Prompts</a:t>
            </a:r>
            <a:endParaRPr sz="1400" b="0" i="0" dirty="0">
              <a:solidFill>
                <a:srgbClr val="9CA3AF"/>
              </a:solidFill>
              <a:latin typeface="Segoe UI"/>
            </a:endParaRPr>
          </a:p>
        </p:txBody>
      </p:sp>
      <p:sp>
        <p:nvSpPr>
          <p:cNvPr id="6" name="Rectangle 5"/>
          <p:cNvSpPr/>
          <p:nvPr/>
        </p:nvSpPr>
        <p:spPr>
          <a:xfrm>
            <a:off x="731520" y="2697480"/>
            <a:ext cx="5486400" cy="36576"/>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ed Rectangle 6"/>
          <p:cNvSpPr/>
          <p:nvPr/>
        </p:nvSpPr>
        <p:spPr>
          <a:xfrm>
            <a:off x="731520" y="6080760"/>
            <a:ext cx="2943013" cy="384048"/>
          </a:xfrm>
          <a:prstGeom prst="roundRect">
            <a:avLst>
              <a:gd name="adj" fmla="val 6000"/>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wrap="square" rtlCol="0" anchor="ctr"/>
          <a:lstStyle/>
          <a:p>
            <a:pPr algn="ctr"/>
            <a:r>
              <a:rPr lang="en-US" sz="1100" b="1" i="0" dirty="0">
                <a:solidFill>
                  <a:srgbClr val="F8F8FC"/>
                </a:solidFill>
                <a:latin typeface="Segoe UI"/>
              </a:rPr>
              <a:t>Multi Region Resiliency Assessment</a:t>
            </a:r>
            <a:endParaRPr sz="1100" b="1" i="0" dirty="0">
              <a:solidFill>
                <a:srgbClr val="F8F8FC"/>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09728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3" name="Shape 1"/>
          <p:cNvSpPr/>
          <p:nvPr/>
        </p:nvSpPr>
        <p:spPr>
          <a:xfrm>
            <a:off x="0" y="1097280"/>
            <a:ext cx="12192000" cy="60960"/>
          </a:xfrm>
          <a:prstGeom prst="rect">
            <a:avLst/>
          </a:prstGeom>
          <a:solidFill>
            <a:srgbClr val="CADCFC"/>
          </a:solid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4" name="Text 2"/>
          <p:cNvSpPr/>
          <p:nvPr/>
        </p:nvSpPr>
        <p:spPr>
          <a:xfrm>
            <a:off x="487680" y="121920"/>
            <a:ext cx="8534400" cy="609600"/>
          </a:xfrm>
          <a:prstGeom prst="rect">
            <a:avLst/>
          </a:prstGeom>
          <a:noFill/>
          <a:ln/>
        </p:spPr>
        <p:txBody>
          <a:bodyPr wrap="square" lIns="0" tIns="0" rIns="0" bIns="0" rtlCol="0" anchor="ctr"/>
          <a:lstStyle/>
          <a:p>
            <a:pPr defTabSz="1219170"/>
            <a:r>
              <a:rPr lang="en-US" sz="2800" b="1">
                <a:solidFill>
                  <a:srgbClr val="FFFFFF"/>
                </a:solidFill>
                <a:latin typeface="Montserrat" panose="00000500000000000000" pitchFamily="2" charset="0"/>
                <a:ea typeface="Calibri" pitchFamily="34" charset="-122"/>
                <a:cs typeface="Calibri" pitchFamily="34" charset="-120"/>
              </a:rPr>
              <a:t>HVE-Powered Assessment Approach</a:t>
            </a:r>
            <a:endParaRPr lang="en-US" sz="2800">
              <a:solidFill>
                <a:prstClr val="black"/>
              </a:solidFill>
              <a:latin typeface="Montserrat" panose="00000500000000000000" pitchFamily="2" charset="0"/>
            </a:endParaRPr>
          </a:p>
        </p:txBody>
      </p:sp>
      <p:sp>
        <p:nvSpPr>
          <p:cNvPr id="5" name="Text 3"/>
          <p:cNvSpPr/>
          <p:nvPr/>
        </p:nvSpPr>
        <p:spPr>
          <a:xfrm>
            <a:off x="487680" y="633984"/>
            <a:ext cx="8534400" cy="390144"/>
          </a:xfrm>
          <a:prstGeom prst="rect">
            <a:avLst/>
          </a:prstGeom>
          <a:noFill/>
          <a:ln/>
        </p:spPr>
        <p:txBody>
          <a:bodyPr wrap="square" lIns="0" tIns="0" rIns="0" bIns="0" rtlCol="0" anchor="ctr"/>
          <a:lstStyle/>
          <a:p>
            <a:pPr defTabSz="1219170"/>
            <a:r>
              <a:rPr lang="en-US" sz="1200" i="1">
                <a:solidFill>
                  <a:srgbClr val="CADCFC"/>
                </a:solidFill>
                <a:latin typeface="Montserrat" panose="00000500000000000000" pitchFamily="2" charset="0"/>
                <a:ea typeface="Calibri" pitchFamily="34" charset="-122"/>
                <a:cs typeface="Calibri" pitchFamily="34" charset="-120"/>
              </a:rPr>
              <a:t>Albertsons Project  •  AI-Accelerated Discovery &amp; Assessment</a:t>
            </a:r>
            <a:endParaRPr lang="en-US" sz="1200">
              <a:solidFill>
                <a:prstClr val="black"/>
              </a:solidFill>
              <a:latin typeface="Montserrat" panose="00000500000000000000" pitchFamily="2" charset="0"/>
            </a:endParaRPr>
          </a:p>
        </p:txBody>
      </p:sp>
      <p:sp>
        <p:nvSpPr>
          <p:cNvPr id="6" name="Text 4"/>
          <p:cNvSpPr/>
          <p:nvPr/>
        </p:nvSpPr>
        <p:spPr>
          <a:xfrm>
            <a:off x="8534400" y="365760"/>
            <a:ext cx="3169920" cy="390144"/>
          </a:xfrm>
          <a:prstGeom prst="rect">
            <a:avLst/>
          </a:prstGeom>
          <a:noFill/>
          <a:ln/>
        </p:spPr>
        <p:txBody>
          <a:bodyPr wrap="square" lIns="0" tIns="0" rIns="0" bIns="0" rtlCol="0" anchor="ctr"/>
          <a:lstStyle/>
          <a:p>
            <a:pPr algn="r" defTabSz="1219170"/>
            <a:r>
              <a:rPr lang="en-US" sz="1200">
                <a:solidFill>
                  <a:srgbClr val="CADCFC"/>
                </a:solidFill>
                <a:latin typeface="Montserrat" panose="00000500000000000000" pitchFamily="2" charset="0"/>
                <a:ea typeface="Calibri" pitchFamily="34" charset="-122"/>
                <a:cs typeface="Calibri" pitchFamily="34" charset="-120"/>
              </a:rPr>
              <a:t>Powered by GitHub Copilot</a:t>
            </a:r>
            <a:endParaRPr lang="en-US" sz="1200">
              <a:solidFill>
                <a:prstClr val="black"/>
              </a:solidFill>
              <a:latin typeface="Montserrat" panose="00000500000000000000" pitchFamily="2" charset="0"/>
            </a:endParaRPr>
          </a:p>
        </p:txBody>
      </p:sp>
      <p:sp>
        <p:nvSpPr>
          <p:cNvPr id="7" name="Shape 5"/>
          <p:cNvSpPr/>
          <p:nvPr/>
        </p:nvSpPr>
        <p:spPr>
          <a:xfrm>
            <a:off x="487677" y="1389888"/>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8" name="Shape 6"/>
          <p:cNvSpPr/>
          <p:nvPr/>
        </p:nvSpPr>
        <p:spPr>
          <a:xfrm>
            <a:off x="487680" y="1524000"/>
            <a:ext cx="3596640" cy="121920"/>
          </a:xfrm>
          <a:prstGeom prst="rect">
            <a:avLst/>
          </a:prstGeom>
          <a:solidFill>
            <a:srgbClr val="B85042"/>
          </a:solidFill>
          <a:ln w="12700">
            <a:solidFill>
              <a:srgbClr val="B85042"/>
            </a:solidFill>
            <a:prstDash val="solid"/>
          </a:ln>
        </p:spPr>
        <p:txBody>
          <a:bodyPr/>
          <a:lstStyle/>
          <a:p>
            <a:pPr defTabSz="1219170"/>
            <a:endParaRPr lang="en-IN">
              <a:solidFill>
                <a:prstClr val="black"/>
              </a:solidFill>
              <a:latin typeface="Montserrat" panose="00000500000000000000" pitchFamily="2" charset="0"/>
            </a:endParaRPr>
          </a:p>
        </p:txBody>
      </p:sp>
      <p:sp>
        <p:nvSpPr>
          <p:cNvPr id="9" name="Shape 7"/>
          <p:cNvSpPr/>
          <p:nvPr/>
        </p:nvSpPr>
        <p:spPr>
          <a:xfrm>
            <a:off x="4419600" y="1395307"/>
            <a:ext cx="3596640" cy="4937760"/>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0" name="Shape 8"/>
          <p:cNvSpPr/>
          <p:nvPr/>
        </p:nvSpPr>
        <p:spPr>
          <a:xfrm>
            <a:off x="4418995" y="1524000"/>
            <a:ext cx="3596640" cy="121920"/>
          </a:xfrm>
          <a:prstGeom prst="rect">
            <a:avLst/>
          </a:prstGeom>
          <a:solidFill>
            <a:srgbClr val="1E2761"/>
          </a:solidFill>
          <a:ln w="12700">
            <a:solidFill>
              <a:srgbClr val="1E2761"/>
            </a:solidFill>
            <a:prstDash val="solid"/>
          </a:ln>
        </p:spPr>
        <p:txBody>
          <a:bodyPr/>
          <a:lstStyle/>
          <a:p>
            <a:pPr defTabSz="1219170"/>
            <a:endParaRPr lang="en-IN">
              <a:solidFill>
                <a:prstClr val="black"/>
              </a:solidFill>
              <a:latin typeface="Montserrat" panose="00000500000000000000" pitchFamily="2" charset="0"/>
            </a:endParaRPr>
          </a:p>
        </p:txBody>
      </p:sp>
      <p:sp>
        <p:nvSpPr>
          <p:cNvPr id="11" name="Shape 9"/>
          <p:cNvSpPr/>
          <p:nvPr/>
        </p:nvSpPr>
        <p:spPr>
          <a:xfrm>
            <a:off x="8200940" y="1766514"/>
            <a:ext cx="3546945" cy="4561134"/>
          </a:xfrm>
          <a:prstGeom prst="rect">
            <a:avLst/>
          </a:prstGeom>
          <a:solidFill>
            <a:srgbClr val="FFFFFF"/>
          </a:solidFill>
          <a:ln w="9525">
            <a:solidFill>
              <a:srgbClr val="E5E9F2"/>
            </a:solidFill>
            <a:prstDash val="solid"/>
          </a:ln>
          <a:effectLst>
            <a:outerShdw blurRad="101600" dist="25400" dir="5400000" algn="bl" rotWithShape="0">
              <a:srgbClr val="1E2761">
                <a:alpha val="10000"/>
              </a:srgbClr>
            </a:outerShdw>
          </a:effectLst>
        </p:spPr>
        <p:txBody>
          <a:bodyPr/>
          <a:lstStyle/>
          <a:p>
            <a:pPr defTabSz="1219170"/>
            <a:endParaRPr lang="en-IN">
              <a:solidFill>
                <a:prstClr val="black"/>
              </a:solidFill>
              <a:latin typeface="Montserrat" panose="00000500000000000000" pitchFamily="2" charset="0"/>
            </a:endParaRPr>
          </a:p>
        </p:txBody>
      </p:sp>
      <p:sp>
        <p:nvSpPr>
          <p:cNvPr id="12" name="Shape 10"/>
          <p:cNvSpPr/>
          <p:nvPr/>
        </p:nvSpPr>
        <p:spPr>
          <a:xfrm>
            <a:off x="8168640" y="1515717"/>
            <a:ext cx="3596640" cy="121920"/>
          </a:xfrm>
          <a:prstGeom prst="rect">
            <a:avLst/>
          </a:prstGeom>
          <a:solidFill>
            <a:srgbClr val="00A896"/>
          </a:solidFill>
          <a:ln w="12700">
            <a:solidFill>
              <a:srgbClr val="00A896"/>
            </a:solidFill>
            <a:prstDash val="solid"/>
          </a:ln>
        </p:spPr>
        <p:txBody>
          <a:bodyPr/>
          <a:lstStyle/>
          <a:p>
            <a:pPr defTabSz="1219170"/>
            <a:endParaRPr lang="en-IN">
              <a:solidFill>
                <a:prstClr val="black"/>
              </a:solidFill>
              <a:latin typeface="Montserrat" panose="00000500000000000000" pitchFamily="2" charset="0"/>
            </a:endParaRPr>
          </a:p>
        </p:txBody>
      </p:sp>
      <p:pic>
        <p:nvPicPr>
          <p:cNvPr id="13" name="Image 0" descr="preencoded.png"/>
          <p:cNvPicPr>
            <a:picLocks noChangeAspect="1"/>
          </p:cNvPicPr>
          <p:nvPr/>
        </p:nvPicPr>
        <p:blipFill>
          <a:blip r:embed="rId3"/>
          <a:stretch>
            <a:fillRect/>
          </a:stretch>
        </p:blipFill>
        <p:spPr>
          <a:xfrm>
            <a:off x="820139" y="1670304"/>
            <a:ext cx="548640" cy="548640"/>
          </a:xfrm>
          <a:prstGeom prst="rect">
            <a:avLst/>
          </a:prstGeom>
        </p:spPr>
      </p:pic>
      <p:sp>
        <p:nvSpPr>
          <p:cNvPr id="14" name="Text 11"/>
          <p:cNvSpPr/>
          <p:nvPr/>
        </p:nvSpPr>
        <p:spPr>
          <a:xfrm>
            <a:off x="1490699" y="164592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Challenge</a:t>
            </a:r>
            <a:endParaRPr lang="en-US">
              <a:solidFill>
                <a:prstClr val="black"/>
              </a:solidFill>
              <a:latin typeface="Montserrat" panose="00000500000000000000" pitchFamily="2" charset="0"/>
            </a:endParaRPr>
          </a:p>
        </p:txBody>
      </p:sp>
      <p:sp>
        <p:nvSpPr>
          <p:cNvPr id="15" name="Text 12"/>
          <p:cNvSpPr/>
          <p:nvPr/>
        </p:nvSpPr>
        <p:spPr>
          <a:xfrm>
            <a:off x="546320" y="2668905"/>
            <a:ext cx="3385597" cy="1036320"/>
          </a:xfrm>
          <a:prstGeom prst="rect">
            <a:avLst/>
          </a:prstGeom>
          <a:noFill/>
          <a:ln/>
        </p:spPr>
        <p:txBody>
          <a:bodyPr wrap="square" lIns="0" tIns="0" rIns="0" bIns="0" rtlCol="0" anchor="ctr"/>
          <a:lstStyle/>
          <a:p>
            <a:pPr algn="ctr" defTabSz="1219170"/>
            <a:r>
              <a:rPr lang="en-US" sz="1600">
                <a:solidFill>
                  <a:srgbClr val="3E4A5E"/>
                </a:solidFill>
                <a:latin typeface="Montserrat" panose="00000500000000000000" pitchFamily="2" charset="0"/>
                <a:ea typeface="Calibri" pitchFamily="34" charset="-122"/>
                <a:cs typeface="Calibri" pitchFamily="34" charset="-120"/>
              </a:rPr>
              <a:t>AI tools like GitHub Copilot accelerate discovery — but </a:t>
            </a:r>
            <a:r>
              <a:rPr lang="en-US" sz="1600" b="1">
                <a:solidFill>
                  <a:srgbClr val="B85042"/>
                </a:solidFill>
                <a:latin typeface="Montserrat" panose="00000500000000000000" pitchFamily="2" charset="0"/>
                <a:ea typeface="Calibri" pitchFamily="34" charset="-122"/>
                <a:cs typeface="Calibri" pitchFamily="34" charset="-120"/>
              </a:rPr>
              <a:t>lack of standardization</a:t>
            </a:r>
            <a:r>
              <a:rPr lang="en-US" sz="1600">
                <a:solidFill>
                  <a:srgbClr val="3E4A5E"/>
                </a:solidFill>
                <a:latin typeface="Montserrat" panose="00000500000000000000" pitchFamily="2" charset="0"/>
                <a:ea typeface="Calibri" pitchFamily="34" charset="-122"/>
                <a:cs typeface="Calibri" pitchFamily="34" charset="-120"/>
              </a:rPr>
              <a:t> leads to:</a:t>
            </a:r>
            <a:endParaRPr lang="en-US" sz="1600">
              <a:solidFill>
                <a:prstClr val="black"/>
              </a:solidFill>
              <a:latin typeface="Montserrat" panose="00000500000000000000" pitchFamily="2" charset="0"/>
            </a:endParaRPr>
          </a:p>
        </p:txBody>
      </p:sp>
      <p:sp>
        <p:nvSpPr>
          <p:cNvPr id="16" name="Text 13"/>
          <p:cNvSpPr/>
          <p:nvPr/>
        </p:nvSpPr>
        <p:spPr>
          <a:xfrm>
            <a:off x="531410" y="3705225"/>
            <a:ext cx="3596641" cy="1217875"/>
          </a:xfrm>
          <a:prstGeom prst="rect">
            <a:avLst/>
          </a:prstGeom>
          <a:noFill/>
          <a:ln/>
        </p:spPr>
        <p:txBody>
          <a:bodyPr wrap="square" rtlCol="0" anchor="ctr"/>
          <a:lstStyle/>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Inconsistent assessment outcomes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High manual effort across teams</a:t>
            </a:r>
            <a:endParaRPr lang="en-US" sz="1400">
              <a:solidFill>
                <a:schemeClr val="accent2"/>
              </a:solidFill>
              <a:latin typeface="Montserrat" panose="00000500000000000000" pitchFamily="2" charset="0"/>
            </a:endParaRPr>
          </a:p>
          <a:p>
            <a:pPr marL="180975" indent="-180975" defTabSz="1219170">
              <a:spcAft>
                <a:spcPts val="1067"/>
              </a:spcAft>
              <a:buSzPct val="100000"/>
              <a:buFont typeface="Arial" panose="020B0604020202020204" pitchFamily="34" charset="0"/>
              <a:buChar char="•"/>
            </a:pPr>
            <a:r>
              <a:rPr lang="en-US" sz="1400">
                <a:solidFill>
                  <a:schemeClr val="accent2"/>
                </a:solidFill>
                <a:latin typeface="Montserrat" panose="00000500000000000000" pitchFamily="2" charset="0"/>
                <a:ea typeface="Calibri" pitchFamily="34" charset="-122"/>
                <a:cs typeface="Calibri" pitchFamily="34" charset="-120"/>
              </a:rPr>
              <a:t>Variable quality and rework</a:t>
            </a:r>
            <a:endParaRPr lang="en-US" sz="1400">
              <a:solidFill>
                <a:schemeClr val="accent2"/>
              </a:solidFill>
              <a:latin typeface="Montserrat" panose="00000500000000000000" pitchFamily="2" charset="0"/>
            </a:endParaRPr>
          </a:p>
        </p:txBody>
      </p:sp>
      <p:pic>
        <p:nvPicPr>
          <p:cNvPr id="17" name="Image 1" descr="preencoded.png"/>
          <p:cNvPicPr>
            <a:picLocks noChangeAspect="1"/>
          </p:cNvPicPr>
          <p:nvPr/>
        </p:nvPicPr>
        <p:blipFill>
          <a:blip r:embed="rId4"/>
          <a:stretch>
            <a:fillRect/>
          </a:stretch>
        </p:blipFill>
        <p:spPr>
          <a:xfrm>
            <a:off x="4669084" y="1682044"/>
            <a:ext cx="548640" cy="548640"/>
          </a:xfrm>
          <a:prstGeom prst="rect">
            <a:avLst/>
          </a:prstGeom>
        </p:spPr>
      </p:pic>
      <p:sp>
        <p:nvSpPr>
          <p:cNvPr id="18" name="Text 14"/>
          <p:cNvSpPr/>
          <p:nvPr/>
        </p:nvSpPr>
        <p:spPr>
          <a:xfrm>
            <a:off x="5339644" y="1657660"/>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The HVE Approach</a:t>
            </a:r>
            <a:endParaRPr lang="en-US">
              <a:solidFill>
                <a:prstClr val="black"/>
              </a:solidFill>
              <a:latin typeface="Montserrat" panose="00000500000000000000" pitchFamily="2" charset="0"/>
            </a:endParaRPr>
          </a:p>
        </p:txBody>
      </p:sp>
      <p:sp>
        <p:nvSpPr>
          <p:cNvPr id="19" name="Text 15"/>
          <p:cNvSpPr/>
          <p:nvPr/>
        </p:nvSpPr>
        <p:spPr>
          <a:xfrm>
            <a:off x="4535556" y="2302160"/>
            <a:ext cx="3480684" cy="4433920"/>
          </a:xfrm>
          <a:prstGeom prst="rect">
            <a:avLst/>
          </a:prstGeom>
          <a:noFill/>
          <a:ln/>
        </p:spPr>
        <p:txBody>
          <a:bodyPr wrap="square" lIns="0" tIns="0" rIns="0" bIns="0" rtlCol="0" anchor="t"/>
          <a:lstStyle/>
          <a:p>
            <a:pPr defTabSz="1219170"/>
            <a:r>
              <a:rPr lang="en-US" sz="1400" b="1">
                <a:solidFill>
                  <a:srgbClr val="1E2761"/>
                </a:solidFill>
                <a:latin typeface="Montserrat" panose="00000500000000000000" pitchFamily="2" charset="0"/>
                <a:ea typeface="Calibri" pitchFamily="34" charset="-122"/>
                <a:cs typeface="Calibri" pitchFamily="34" charset="-120"/>
              </a:rPr>
              <a:t>Task Researcher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Standardized, evidence-based discovery using architecture docs, full codebases, customer context &amp; Microsoft best practices</a:t>
            </a:r>
            <a:endParaRPr lang="en-US" sz="1200">
              <a:solidFill>
                <a:srgbClr val="3E4A5E"/>
              </a:solidFill>
              <a:latin typeface="Montserrat" panose="00000500000000000000" pitchFamily="2" charset="0"/>
              <a:ea typeface="Calibri" pitchFamily="34" charset="-122"/>
              <a:cs typeface="Calibri" pitchFamily="34" charset="-120"/>
            </a:endParaRP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Business context &amp; approved Arch/design docs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Pre-defined output templates &amp; solution patterns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Customer-specific documentation</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Full app codebases across all relevant repositories</a:t>
            </a:r>
          </a:p>
          <a:p>
            <a:pPr marL="228594" indent="-228594" defTabSz="1219170">
              <a:buFont typeface="Arial" panose="020B0604020202020204" pitchFamily="34" charset="0"/>
              <a:buChar char="•"/>
            </a:pPr>
            <a:r>
              <a:rPr lang="en-US" sz="1000">
                <a:solidFill>
                  <a:schemeClr val="accent6">
                    <a:lumMod val="50000"/>
                  </a:schemeClr>
                </a:solidFill>
                <a:latin typeface="Montserrat" panose="00000500000000000000" pitchFamily="2" charset="0"/>
              </a:rPr>
              <a:t>MSFT best practices and engineering guidelines</a:t>
            </a: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Task Planner Agents</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Auto-generate research docs, recommendation reports &amp; JIRA/ADO-ready backlogs</a:t>
            </a:r>
            <a:endParaRPr lang="en-US" sz="1400">
              <a:solidFill>
                <a:prstClr val="black"/>
              </a:solidFill>
              <a:latin typeface="Montserrat" panose="00000500000000000000" pitchFamily="2" charset="0"/>
            </a:endParaRPr>
          </a:p>
          <a:p>
            <a:pPr defTabSz="1219170"/>
            <a:r>
              <a:rPr lang="en-US" sz="600">
                <a:solidFill>
                  <a:srgbClr val="3E4A5E"/>
                </a:solidFill>
                <a:latin typeface="Montserrat" panose="00000500000000000000" pitchFamily="2" charset="0"/>
                <a:ea typeface="Calibri" pitchFamily="34" charset="-122"/>
                <a:cs typeface="Calibri" pitchFamily="34" charset="-120"/>
              </a:rPr>
              <a:t> </a:t>
            </a:r>
            <a:endParaRPr lang="en-US" sz="1200">
              <a:solidFill>
                <a:prstClr val="black"/>
              </a:solidFill>
              <a:latin typeface="Montserrat" panose="00000500000000000000" pitchFamily="2" charset="0"/>
            </a:endParaRPr>
          </a:p>
          <a:p>
            <a:pPr defTabSz="1219170"/>
            <a:endParaRPr lang="en-US" sz="1200" b="1">
              <a:solidFill>
                <a:srgbClr val="1E2761"/>
              </a:solidFill>
              <a:latin typeface="Montserrat" panose="00000500000000000000" pitchFamily="2" charset="0"/>
              <a:ea typeface="Calibri" pitchFamily="34" charset="-122"/>
              <a:cs typeface="Calibri" pitchFamily="34" charset="-120"/>
            </a:endParaRPr>
          </a:p>
          <a:p>
            <a:pPr defTabSz="1219170"/>
            <a:r>
              <a:rPr lang="en-US" sz="1400" b="1">
                <a:solidFill>
                  <a:srgbClr val="1E2761"/>
                </a:solidFill>
                <a:latin typeface="Montserrat" panose="00000500000000000000" pitchFamily="2" charset="0"/>
                <a:ea typeface="Calibri" pitchFamily="34" charset="-122"/>
                <a:cs typeface="Calibri" pitchFamily="34" charset="-120"/>
              </a:rPr>
              <a:t>Human-in-the-Loop Review</a:t>
            </a:r>
            <a:endParaRPr lang="en-US" sz="1400">
              <a:solidFill>
                <a:prstClr val="black"/>
              </a:solidFill>
              <a:latin typeface="Montserrat" panose="00000500000000000000" pitchFamily="2" charset="0"/>
            </a:endParaRPr>
          </a:p>
          <a:p>
            <a:pPr defTabSz="1219170"/>
            <a:r>
              <a:rPr lang="en-US" sz="1400">
                <a:solidFill>
                  <a:srgbClr val="3E4A5E"/>
                </a:solidFill>
                <a:latin typeface="Montserrat" panose="00000500000000000000" pitchFamily="2" charset="0"/>
                <a:ea typeface="Calibri" pitchFamily="34" charset="-122"/>
                <a:cs typeface="Calibri" pitchFamily="34" charset="-120"/>
              </a:rPr>
              <a:t>Architect / SME review ensures quality, accuracy &amp; governance</a:t>
            </a:r>
            <a:endParaRPr lang="en-US" sz="1400">
              <a:solidFill>
                <a:prstClr val="black"/>
              </a:solidFill>
              <a:latin typeface="Montserrat" panose="00000500000000000000" pitchFamily="2" charset="0"/>
            </a:endParaRPr>
          </a:p>
        </p:txBody>
      </p:sp>
      <p:pic>
        <p:nvPicPr>
          <p:cNvPr id="20" name="Image 2" descr="preencoded.png"/>
          <p:cNvPicPr>
            <a:picLocks noChangeAspect="1"/>
          </p:cNvPicPr>
          <p:nvPr/>
        </p:nvPicPr>
        <p:blipFill>
          <a:blip r:embed="rId5"/>
          <a:stretch>
            <a:fillRect/>
          </a:stretch>
        </p:blipFill>
        <p:spPr>
          <a:xfrm>
            <a:off x="8534400" y="1720427"/>
            <a:ext cx="548640" cy="548640"/>
          </a:xfrm>
          <a:prstGeom prst="rect">
            <a:avLst/>
          </a:prstGeom>
        </p:spPr>
      </p:pic>
      <p:sp>
        <p:nvSpPr>
          <p:cNvPr id="21" name="Text 16"/>
          <p:cNvSpPr/>
          <p:nvPr/>
        </p:nvSpPr>
        <p:spPr>
          <a:xfrm>
            <a:off x="9204960" y="1696043"/>
            <a:ext cx="2377440" cy="609600"/>
          </a:xfrm>
          <a:prstGeom prst="rect">
            <a:avLst/>
          </a:prstGeom>
          <a:noFill/>
          <a:ln/>
        </p:spPr>
        <p:txBody>
          <a:bodyPr wrap="square" lIns="0" tIns="0" rIns="0" bIns="0" rtlCol="0" anchor="ctr"/>
          <a:lstStyle/>
          <a:p>
            <a:pPr defTabSz="1219170"/>
            <a:r>
              <a:rPr lang="en-US" b="1">
                <a:solidFill>
                  <a:srgbClr val="1E2761"/>
                </a:solidFill>
                <a:latin typeface="Montserrat" panose="00000500000000000000" pitchFamily="2" charset="0"/>
                <a:ea typeface="Calibri" pitchFamily="34" charset="-122"/>
                <a:cs typeface="Calibri" pitchFamily="34" charset="-120"/>
              </a:rPr>
              <a:t>Impact &amp; Value</a:t>
            </a:r>
            <a:endParaRPr lang="en-US">
              <a:solidFill>
                <a:prstClr val="black"/>
              </a:solidFill>
              <a:latin typeface="Montserrat" panose="00000500000000000000" pitchFamily="2" charset="0"/>
            </a:endParaRPr>
          </a:p>
        </p:txBody>
      </p:sp>
      <p:sp>
        <p:nvSpPr>
          <p:cNvPr id="22" name="Text 17"/>
          <p:cNvSpPr/>
          <p:nvPr/>
        </p:nvSpPr>
        <p:spPr>
          <a:xfrm>
            <a:off x="8473440" y="2682240"/>
            <a:ext cx="2987040" cy="1341120"/>
          </a:xfrm>
          <a:prstGeom prst="rect">
            <a:avLst/>
          </a:prstGeom>
          <a:noFill/>
          <a:ln/>
        </p:spPr>
        <p:txBody>
          <a:bodyPr wrap="square" lIns="0" tIns="0" rIns="0" bIns="0" rtlCol="0" anchor="ctr"/>
          <a:lstStyle/>
          <a:p>
            <a:pPr algn="ctr" defTabSz="1219170"/>
            <a:r>
              <a:rPr lang="en-US" sz="8000" b="1">
                <a:solidFill>
                  <a:srgbClr val="00A896"/>
                </a:solidFill>
                <a:latin typeface="Montserrat" panose="00000500000000000000" pitchFamily="2" charset="0"/>
                <a:ea typeface="Arial Black" pitchFamily="34" charset="-122"/>
                <a:cs typeface="Arial Black" pitchFamily="34" charset="-120"/>
              </a:rPr>
              <a:t>60%</a:t>
            </a:r>
            <a:endParaRPr lang="en-US" sz="8000">
              <a:solidFill>
                <a:prstClr val="black"/>
              </a:solidFill>
              <a:latin typeface="Montserrat" panose="00000500000000000000" pitchFamily="2" charset="0"/>
            </a:endParaRPr>
          </a:p>
        </p:txBody>
      </p:sp>
      <p:sp>
        <p:nvSpPr>
          <p:cNvPr id="23" name="Text 18"/>
          <p:cNvSpPr/>
          <p:nvPr/>
        </p:nvSpPr>
        <p:spPr>
          <a:xfrm>
            <a:off x="8118781" y="3772512"/>
            <a:ext cx="3684435" cy="684143"/>
          </a:xfrm>
          <a:prstGeom prst="rect">
            <a:avLst/>
          </a:prstGeom>
          <a:noFill/>
          <a:ln/>
        </p:spPr>
        <p:txBody>
          <a:bodyPr wrap="square" lIns="0" tIns="0" rIns="0" bIns="0" rtlCol="0" anchor="ctr"/>
          <a:lstStyle/>
          <a:p>
            <a:pPr algn="ctr" defTabSz="1219170"/>
            <a:r>
              <a:rPr lang="en-US" sz="1400" dirty="0">
                <a:solidFill>
                  <a:srgbClr val="1E2761"/>
                </a:solidFill>
                <a:latin typeface="Montserrat" panose="00000500000000000000" pitchFamily="2" charset="0"/>
                <a:ea typeface="Calibri"/>
                <a:cs typeface="Calibri"/>
              </a:rPr>
              <a:t>reduction in assessment effort </a:t>
            </a:r>
          </a:p>
          <a:p>
            <a:pPr algn="ctr" defTabSz="1219170"/>
            <a:r>
              <a:rPr lang="en-US" sz="3600" b="1" dirty="0">
                <a:solidFill>
                  <a:schemeClr val="accent1"/>
                </a:solidFill>
                <a:latin typeface="Montserrat" panose="00000500000000000000" pitchFamily="2" charset="0"/>
              </a:rPr>
              <a:t>23</a:t>
            </a:r>
            <a:r>
              <a:rPr lang="en-US" sz="1100" b="1" i="1" dirty="0">
                <a:solidFill>
                  <a:srgbClr val="1E2761"/>
                </a:solidFill>
                <a:latin typeface="Montserrat" panose="00000500000000000000" pitchFamily="2" charset="0"/>
                <a:ea typeface="Calibri"/>
                <a:cs typeface="Calibri"/>
              </a:rPr>
              <a:t> </a:t>
            </a:r>
            <a:r>
              <a:rPr lang="en-US" sz="1600" b="1" i="1" dirty="0">
                <a:solidFill>
                  <a:srgbClr val="1E2761"/>
                </a:solidFill>
                <a:latin typeface="Montserrat" panose="00000500000000000000" pitchFamily="2" charset="0"/>
                <a:ea typeface="Calibri"/>
                <a:cs typeface="Calibri"/>
              </a:rPr>
              <a:t>Repos</a:t>
            </a:r>
            <a:endParaRPr lang="en-US" sz="1100" dirty="0">
              <a:solidFill>
                <a:prstClr val="black"/>
              </a:solidFill>
              <a:latin typeface="Montserrat" panose="00000500000000000000" pitchFamily="2" charset="0"/>
            </a:endParaRPr>
          </a:p>
        </p:txBody>
      </p:sp>
      <p:sp>
        <p:nvSpPr>
          <p:cNvPr id="24" name="Text 19"/>
          <p:cNvSpPr/>
          <p:nvPr/>
        </p:nvSpPr>
        <p:spPr>
          <a:xfrm>
            <a:off x="8467479" y="4521094"/>
            <a:ext cx="2987040" cy="304800"/>
          </a:xfrm>
          <a:prstGeom prst="rect">
            <a:avLst/>
          </a:prstGeom>
          <a:noFill/>
          <a:ln/>
        </p:spPr>
        <p:txBody>
          <a:bodyPr wrap="square" lIns="0" tIns="0" rIns="0" bIns="0" rtlCol="0" anchor="ctr"/>
          <a:lstStyle/>
          <a:p>
            <a:pPr algn="ctr" defTabSz="1219170"/>
            <a:r>
              <a:rPr lang="en-US" sz="1100">
                <a:solidFill>
                  <a:srgbClr val="6B7689"/>
                </a:solidFill>
                <a:latin typeface="Montserrat" panose="00000500000000000000" pitchFamily="2" charset="0"/>
                <a:ea typeface="Calibri" pitchFamily="34" charset="-122"/>
                <a:cs typeface="Calibri" pitchFamily="34" charset="-120"/>
              </a:rPr>
              <a:t>Architect + Developer</a:t>
            </a:r>
            <a:endParaRPr lang="en-US" sz="1100">
              <a:solidFill>
                <a:prstClr val="black"/>
              </a:solidFill>
              <a:latin typeface="Montserrat" panose="00000500000000000000" pitchFamily="2" charset="0"/>
            </a:endParaRPr>
          </a:p>
        </p:txBody>
      </p:sp>
      <p:sp>
        <p:nvSpPr>
          <p:cNvPr id="25" name="Shape 20"/>
          <p:cNvSpPr/>
          <p:nvPr/>
        </p:nvSpPr>
        <p:spPr>
          <a:xfrm>
            <a:off x="8900160" y="4840224"/>
            <a:ext cx="2133600" cy="0"/>
          </a:xfrm>
          <a:prstGeom prst="line">
            <a:avLst/>
          </a:prstGeom>
          <a:noFill/>
          <a:ln w="12700">
            <a:solidFill>
              <a:srgbClr val="CADCFC"/>
            </a:solidFill>
            <a:prstDash val="solid"/>
          </a:ln>
        </p:spPr>
        <p:txBody>
          <a:bodyPr/>
          <a:lstStyle/>
          <a:p>
            <a:pPr defTabSz="1219170"/>
            <a:endParaRPr lang="en-IN">
              <a:solidFill>
                <a:prstClr val="black"/>
              </a:solidFill>
              <a:latin typeface="Montserrat" panose="00000500000000000000" pitchFamily="2" charset="0"/>
            </a:endParaRPr>
          </a:p>
        </p:txBody>
      </p:sp>
      <p:sp>
        <p:nvSpPr>
          <p:cNvPr id="26" name="Text 21"/>
          <p:cNvSpPr/>
          <p:nvPr/>
        </p:nvSpPr>
        <p:spPr>
          <a:xfrm>
            <a:off x="8168639" y="4924177"/>
            <a:ext cx="3596640" cy="1341120"/>
          </a:xfrm>
          <a:prstGeom prst="rect">
            <a:avLst/>
          </a:prstGeom>
          <a:noFill/>
          <a:ln/>
        </p:spPr>
        <p:txBody>
          <a:bodyPr wrap="square" rtlCol="0" anchor="ctr"/>
          <a:lstStyle/>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Automated research replaces manual discovery</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Reports generated with minimal manual effort</a:t>
            </a:r>
            <a:endParaRPr lang="en-US" sz="1200">
              <a:solidFill>
                <a:prstClr val="black"/>
              </a:solidFill>
              <a:latin typeface="Montserrat" panose="00000500000000000000" pitchFamily="2" charset="0"/>
            </a:endParaRPr>
          </a:p>
          <a:p>
            <a:pPr marL="171450" indent="-171450" defTabSz="1219170">
              <a:spcAft>
                <a:spcPts val="533"/>
              </a:spcAft>
              <a:buSzPct val="100000"/>
              <a:buFont typeface="Wingdings" panose="05000000000000000000" pitchFamily="2" charset="2"/>
              <a:buChar char="v"/>
            </a:pPr>
            <a:r>
              <a:rPr lang="en-US" sz="1200">
                <a:solidFill>
                  <a:srgbClr val="3E4A5E"/>
                </a:solidFill>
                <a:latin typeface="Montserrat" panose="00000500000000000000" pitchFamily="2" charset="0"/>
                <a:ea typeface="Calibri" pitchFamily="34" charset="-122"/>
                <a:cs typeface="Calibri" pitchFamily="34" charset="-120"/>
              </a:rPr>
              <a:t>JIRA-ready Excel eliminates manual story creation</a:t>
            </a:r>
            <a:endParaRPr lang="en-US" sz="1400">
              <a:solidFill>
                <a:prstClr val="black"/>
              </a:solidFill>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Vision: Consistent, Automated, Repeatable</a:t>
            </a:r>
          </a:p>
        </p:txBody>
      </p:sp>
      <p:sp>
        <p:nvSpPr>
          <p:cNvPr id="4" name="Rectangle 3"/>
          <p:cNvSpPr/>
          <p:nvPr/>
        </p:nvSpPr>
        <p:spPr>
          <a:xfrm>
            <a:off x="457200" y="822960"/>
            <a:ext cx="54864" cy="1737360"/>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512064" y="822960"/>
            <a:ext cx="11222431" cy="1737360"/>
          </a:xfrm>
          <a:prstGeom prst="rect">
            <a:avLst/>
          </a:prstGeom>
          <a:solidFill>
            <a:srgbClr val="1A1D2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TextBox 5"/>
          <p:cNvSpPr txBox="1"/>
          <p:nvPr/>
        </p:nvSpPr>
        <p:spPr>
          <a:xfrm>
            <a:off x="777240" y="896112"/>
            <a:ext cx="10698480" cy="1554480"/>
          </a:xfrm>
          <a:prstGeom prst="rect">
            <a:avLst/>
          </a:prstGeom>
          <a:noFill/>
        </p:spPr>
        <p:txBody>
          <a:bodyPr wrap="square" anchor="ctr">
            <a:spAutoFit/>
          </a:bodyPr>
          <a:lstStyle/>
          <a:p>
            <a:pPr algn="l"/>
            <a:r>
              <a:rPr sz="2200" b="0" i="0">
                <a:solidFill>
                  <a:srgbClr val="F8F8FC"/>
                </a:solidFill>
                <a:latin typeface="Segoe UI"/>
              </a:rPr>
              <a:t>What if every repository could be analyzed for resiliency risk — consistently, in minutes — by any engineer on the team?</a:t>
            </a:r>
          </a:p>
        </p:txBody>
      </p:sp>
      <p:sp>
        <p:nvSpPr>
          <p:cNvPr id="7" name="Oval 6"/>
          <p:cNvSpPr/>
          <p:nvPr/>
        </p:nvSpPr>
        <p:spPr>
          <a:xfrm>
            <a:off x="457200"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8" name="TextBox 7"/>
          <p:cNvSpPr txBox="1"/>
          <p:nvPr/>
        </p:nvSpPr>
        <p:spPr>
          <a:xfrm>
            <a:off x="1005840" y="2834640"/>
            <a:ext cx="3088843" cy="320040"/>
          </a:xfrm>
          <a:prstGeom prst="rect">
            <a:avLst/>
          </a:prstGeom>
          <a:noFill/>
        </p:spPr>
        <p:txBody>
          <a:bodyPr wrap="square">
            <a:spAutoFit/>
          </a:bodyPr>
          <a:lstStyle/>
          <a:p>
            <a:r>
              <a:rPr sz="1600" b="1" i="0">
                <a:solidFill>
                  <a:srgbClr val="F8F8FC"/>
                </a:solidFill>
                <a:latin typeface="Segoe UI"/>
              </a:rPr>
              <a:t>Any Repo</a:t>
            </a:r>
          </a:p>
        </p:txBody>
      </p:sp>
      <p:sp>
        <p:nvSpPr>
          <p:cNvPr id="9" name="TextBox 8"/>
          <p:cNvSpPr txBox="1"/>
          <p:nvPr/>
        </p:nvSpPr>
        <p:spPr>
          <a:xfrm>
            <a:off x="1005840" y="3154680"/>
            <a:ext cx="3088843" cy="365760"/>
          </a:xfrm>
          <a:prstGeom prst="rect">
            <a:avLst/>
          </a:prstGeom>
          <a:noFill/>
        </p:spPr>
        <p:txBody>
          <a:bodyPr wrap="square">
            <a:spAutoFit/>
          </a:bodyPr>
          <a:lstStyle/>
          <a:p>
            <a:r>
              <a:rPr sz="1400" b="0" i="0">
                <a:solidFill>
                  <a:srgbClr val="9CA3AF"/>
                </a:solidFill>
                <a:latin typeface="Segoe UI"/>
              </a:rPr>
              <a:t>Point the skill at any repository</a:t>
            </a:r>
          </a:p>
        </p:txBody>
      </p:sp>
      <p:sp>
        <p:nvSpPr>
          <p:cNvPr id="10" name="Oval 9"/>
          <p:cNvSpPr/>
          <p:nvPr/>
        </p:nvSpPr>
        <p:spPr>
          <a:xfrm>
            <a:off x="4277563" y="283464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11" name="TextBox 10"/>
          <p:cNvSpPr txBox="1"/>
          <p:nvPr/>
        </p:nvSpPr>
        <p:spPr>
          <a:xfrm>
            <a:off x="4826203" y="2834640"/>
            <a:ext cx="3088843" cy="320040"/>
          </a:xfrm>
          <a:prstGeom prst="rect">
            <a:avLst/>
          </a:prstGeom>
          <a:noFill/>
        </p:spPr>
        <p:txBody>
          <a:bodyPr wrap="square">
            <a:spAutoFit/>
          </a:bodyPr>
          <a:lstStyle/>
          <a:p>
            <a:r>
              <a:rPr sz="1600" b="1" i="0">
                <a:solidFill>
                  <a:srgbClr val="F8F8FC"/>
                </a:solidFill>
                <a:latin typeface="Segoe UI"/>
              </a:rPr>
              <a:t>Any Stack</a:t>
            </a:r>
          </a:p>
        </p:txBody>
      </p:sp>
      <p:sp>
        <p:nvSpPr>
          <p:cNvPr id="12" name="TextBox 11"/>
          <p:cNvSpPr txBox="1"/>
          <p:nvPr/>
        </p:nvSpPr>
        <p:spPr>
          <a:xfrm>
            <a:off x="4826203" y="3154680"/>
            <a:ext cx="3088843" cy="365760"/>
          </a:xfrm>
          <a:prstGeom prst="rect">
            <a:avLst/>
          </a:prstGeom>
          <a:noFill/>
        </p:spPr>
        <p:txBody>
          <a:bodyPr wrap="square">
            <a:spAutoFit/>
          </a:bodyPr>
          <a:lstStyle/>
          <a:p>
            <a:r>
              <a:rPr sz="1400" b="0" i="0">
                <a:solidFill>
                  <a:srgbClr val="9CA3AF"/>
                </a:solidFill>
                <a:latin typeface="Segoe UI"/>
              </a:rPr>
              <a:t>C#, Node.js, Python, IaC — all covered</a:t>
            </a:r>
          </a:p>
        </p:txBody>
      </p:sp>
      <p:sp>
        <p:nvSpPr>
          <p:cNvPr id="13" name="Oval 12"/>
          <p:cNvSpPr/>
          <p:nvPr/>
        </p:nvSpPr>
        <p:spPr>
          <a:xfrm>
            <a:off x="8097926"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4" name="TextBox 13"/>
          <p:cNvSpPr txBox="1"/>
          <p:nvPr/>
        </p:nvSpPr>
        <p:spPr>
          <a:xfrm>
            <a:off x="8646566" y="2834640"/>
            <a:ext cx="3088843" cy="320040"/>
          </a:xfrm>
          <a:prstGeom prst="rect">
            <a:avLst/>
          </a:prstGeom>
          <a:noFill/>
        </p:spPr>
        <p:txBody>
          <a:bodyPr wrap="square">
            <a:spAutoFit/>
          </a:bodyPr>
          <a:lstStyle/>
          <a:p>
            <a:r>
              <a:rPr sz="1600" b="1" i="0">
                <a:solidFill>
                  <a:srgbClr val="F8F8FC"/>
                </a:solidFill>
                <a:latin typeface="Segoe UI"/>
              </a:rPr>
              <a:t>One Output</a:t>
            </a:r>
          </a:p>
        </p:txBody>
      </p:sp>
      <p:sp>
        <p:nvSpPr>
          <p:cNvPr id="15" name="TextBox 14"/>
          <p:cNvSpPr txBox="1"/>
          <p:nvPr/>
        </p:nvSpPr>
        <p:spPr>
          <a:xfrm>
            <a:off x="8646566" y="3154680"/>
            <a:ext cx="3088843" cy="365760"/>
          </a:xfrm>
          <a:prstGeom prst="rect">
            <a:avLst/>
          </a:prstGeom>
          <a:noFill/>
        </p:spPr>
        <p:txBody>
          <a:bodyPr wrap="square">
            <a:spAutoFit/>
          </a:bodyPr>
          <a:lstStyle/>
          <a:p>
            <a:r>
              <a:rPr sz="1400" b="0" i="0">
                <a:solidFill>
                  <a:srgbClr val="9CA3AF"/>
                </a:solidFill>
                <a:latin typeface="Segoe UI"/>
              </a:rPr>
              <a:t>P0→P3 findings with file+line evidence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Challenge: Resiliency Reviews That Don't Scale</a:t>
            </a:r>
          </a:p>
        </p:txBody>
      </p:sp>
      <p:sp>
        <p:nvSpPr>
          <p:cNvPr id="4" name="Rounded Rectangle 3"/>
          <p:cNvSpPr/>
          <p:nvPr/>
        </p:nvSpPr>
        <p:spPr>
          <a:xfrm>
            <a:off x="457200" y="1389888"/>
            <a:ext cx="3637483" cy="1282869"/>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Rectangle 4"/>
          <p:cNvSpPr/>
          <p:nvPr/>
        </p:nvSpPr>
        <p:spPr>
          <a:xfrm>
            <a:off x="594360"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TIME-INTENSIVE</a:t>
            </a:r>
          </a:p>
        </p:txBody>
      </p:sp>
      <p:sp>
        <p:nvSpPr>
          <p:cNvPr id="7" name="TextBox 6"/>
          <p:cNvSpPr txBox="1"/>
          <p:nvPr/>
        </p:nvSpPr>
        <p:spPr>
          <a:xfrm>
            <a:off x="640080" y="1444752"/>
            <a:ext cx="3454603" cy="276999"/>
          </a:xfrm>
          <a:prstGeom prst="rect">
            <a:avLst/>
          </a:prstGeom>
          <a:noFill/>
        </p:spPr>
        <p:txBody>
          <a:bodyPr wrap="square">
            <a:spAutoFit/>
          </a:bodyPr>
          <a:lstStyle/>
          <a:p>
            <a:r>
              <a:rPr sz="1200" b="0" i="0" dirty="0">
                <a:solidFill>
                  <a:srgbClr val="F8F8FC"/>
                </a:solidFill>
                <a:latin typeface="Segoe UI"/>
              </a:rPr>
              <a:t>• Senior architect required for every review</a:t>
            </a:r>
          </a:p>
        </p:txBody>
      </p:sp>
      <p:sp>
        <p:nvSpPr>
          <p:cNvPr id="8" name="TextBox 7"/>
          <p:cNvSpPr txBox="1"/>
          <p:nvPr/>
        </p:nvSpPr>
        <p:spPr>
          <a:xfrm>
            <a:off x="685800" y="1827444"/>
            <a:ext cx="3271723" cy="276999"/>
          </a:xfrm>
          <a:prstGeom prst="rect">
            <a:avLst/>
          </a:prstGeom>
          <a:noFill/>
        </p:spPr>
        <p:txBody>
          <a:bodyPr wrap="square">
            <a:spAutoFit/>
          </a:bodyPr>
          <a:lstStyle/>
          <a:p>
            <a:r>
              <a:rPr sz="1200" b="0" i="0" dirty="0">
                <a:solidFill>
                  <a:srgbClr val="9CA3AF"/>
                </a:solidFill>
                <a:latin typeface="Segoe UI"/>
              </a:rPr>
              <a:t>• Weeks of manual code analysis</a:t>
            </a:r>
          </a:p>
        </p:txBody>
      </p:sp>
      <p:sp>
        <p:nvSpPr>
          <p:cNvPr id="9" name="TextBox 8"/>
          <p:cNvSpPr txBox="1"/>
          <p:nvPr/>
        </p:nvSpPr>
        <p:spPr>
          <a:xfrm>
            <a:off x="685799" y="2174947"/>
            <a:ext cx="3271723" cy="276999"/>
          </a:xfrm>
          <a:prstGeom prst="rect">
            <a:avLst/>
          </a:prstGeom>
          <a:noFill/>
        </p:spPr>
        <p:txBody>
          <a:bodyPr wrap="square">
            <a:spAutoFit/>
          </a:bodyPr>
          <a:lstStyle/>
          <a:p>
            <a:r>
              <a:rPr sz="1200" b="0" i="0" dirty="0">
                <a:solidFill>
                  <a:srgbClr val="9CA3AF"/>
                </a:solidFill>
                <a:latin typeface="Segoe UI"/>
              </a:rPr>
              <a:t>• 30+ services across the platform</a:t>
            </a:r>
          </a:p>
        </p:txBody>
      </p:sp>
      <p:sp>
        <p:nvSpPr>
          <p:cNvPr id="10" name="Rounded Rectangle 9"/>
          <p:cNvSpPr/>
          <p:nvPr/>
        </p:nvSpPr>
        <p:spPr>
          <a:xfrm>
            <a:off x="4277563" y="1408176"/>
            <a:ext cx="3637483" cy="1264581"/>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Rectangle 10"/>
          <p:cNvSpPr/>
          <p:nvPr/>
        </p:nvSpPr>
        <p:spPr>
          <a:xfrm>
            <a:off x="4414723"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INCONSISTENT</a:t>
            </a:r>
          </a:p>
        </p:txBody>
      </p:sp>
      <p:sp>
        <p:nvSpPr>
          <p:cNvPr id="13" name="TextBox 12"/>
          <p:cNvSpPr txBox="1"/>
          <p:nvPr/>
        </p:nvSpPr>
        <p:spPr>
          <a:xfrm>
            <a:off x="4460443" y="1444752"/>
            <a:ext cx="3271723" cy="276999"/>
          </a:xfrm>
          <a:prstGeom prst="rect">
            <a:avLst/>
          </a:prstGeom>
          <a:noFill/>
        </p:spPr>
        <p:txBody>
          <a:bodyPr wrap="square">
            <a:spAutoFit/>
          </a:bodyPr>
          <a:lstStyle/>
          <a:p>
            <a:r>
              <a:rPr sz="1200" b="0" i="0">
                <a:solidFill>
                  <a:srgbClr val="F8F8FC"/>
                </a:solidFill>
                <a:latin typeface="Segoe UI"/>
              </a:rPr>
              <a:t>• No standard finding format</a:t>
            </a:r>
          </a:p>
        </p:txBody>
      </p:sp>
      <p:sp>
        <p:nvSpPr>
          <p:cNvPr id="14" name="TextBox 13"/>
          <p:cNvSpPr txBox="1"/>
          <p:nvPr/>
        </p:nvSpPr>
        <p:spPr>
          <a:xfrm>
            <a:off x="4460443" y="1764791"/>
            <a:ext cx="3271723" cy="276999"/>
          </a:xfrm>
          <a:prstGeom prst="rect">
            <a:avLst/>
          </a:prstGeom>
          <a:noFill/>
        </p:spPr>
        <p:txBody>
          <a:bodyPr wrap="square">
            <a:spAutoFit/>
          </a:bodyPr>
          <a:lstStyle/>
          <a:p>
            <a:r>
              <a:rPr sz="1200" b="0" i="0">
                <a:solidFill>
                  <a:srgbClr val="9CA3AF"/>
                </a:solidFill>
                <a:latin typeface="Segoe UI"/>
              </a:rPr>
              <a:t>• P0 risks buried in prose</a:t>
            </a:r>
          </a:p>
        </p:txBody>
      </p:sp>
      <p:sp>
        <p:nvSpPr>
          <p:cNvPr id="15" name="TextBox 14"/>
          <p:cNvSpPr txBox="1"/>
          <p:nvPr/>
        </p:nvSpPr>
        <p:spPr>
          <a:xfrm>
            <a:off x="4460443" y="2084831"/>
            <a:ext cx="3271723" cy="276999"/>
          </a:xfrm>
          <a:prstGeom prst="rect">
            <a:avLst/>
          </a:prstGeom>
          <a:noFill/>
        </p:spPr>
        <p:txBody>
          <a:bodyPr wrap="square">
            <a:spAutoFit/>
          </a:bodyPr>
          <a:lstStyle/>
          <a:p>
            <a:r>
              <a:rPr sz="1200" b="0" i="0">
                <a:solidFill>
                  <a:srgbClr val="9CA3AF"/>
                </a:solidFill>
                <a:latin typeface="Segoe UI"/>
              </a:rPr>
              <a:t>• Evidence lost in email threads</a:t>
            </a:r>
          </a:p>
        </p:txBody>
      </p:sp>
      <p:sp>
        <p:nvSpPr>
          <p:cNvPr id="16" name="Rounded Rectangle 15"/>
          <p:cNvSpPr/>
          <p:nvPr/>
        </p:nvSpPr>
        <p:spPr>
          <a:xfrm>
            <a:off x="8097926" y="1389888"/>
            <a:ext cx="3637483" cy="12280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8235086" y="896112"/>
            <a:ext cx="3363163"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DOESN'T SCALE</a:t>
            </a:r>
          </a:p>
        </p:txBody>
      </p:sp>
      <p:sp>
        <p:nvSpPr>
          <p:cNvPr id="19" name="TextBox 18"/>
          <p:cNvSpPr txBox="1"/>
          <p:nvPr/>
        </p:nvSpPr>
        <p:spPr>
          <a:xfrm>
            <a:off x="8280806" y="1444752"/>
            <a:ext cx="3271723" cy="276999"/>
          </a:xfrm>
          <a:prstGeom prst="rect">
            <a:avLst/>
          </a:prstGeom>
          <a:noFill/>
        </p:spPr>
        <p:txBody>
          <a:bodyPr wrap="square">
            <a:spAutoFit/>
          </a:bodyPr>
          <a:lstStyle/>
          <a:p>
            <a:r>
              <a:rPr sz="1200" b="0" i="0" dirty="0">
                <a:solidFill>
                  <a:srgbClr val="F8F8FC"/>
                </a:solidFill>
                <a:latin typeface="Segoe UI"/>
              </a:rPr>
              <a:t>• Active/active transition = dozens of repos</a:t>
            </a:r>
          </a:p>
        </p:txBody>
      </p:sp>
      <p:sp>
        <p:nvSpPr>
          <p:cNvPr id="20" name="TextBox 19"/>
          <p:cNvSpPr txBox="1"/>
          <p:nvPr/>
        </p:nvSpPr>
        <p:spPr>
          <a:xfrm>
            <a:off x="8326526" y="1804923"/>
            <a:ext cx="3271723" cy="276999"/>
          </a:xfrm>
          <a:prstGeom prst="rect">
            <a:avLst/>
          </a:prstGeom>
          <a:noFill/>
        </p:spPr>
        <p:txBody>
          <a:bodyPr wrap="square">
            <a:spAutoFit/>
          </a:bodyPr>
          <a:lstStyle/>
          <a:p>
            <a:r>
              <a:rPr sz="1200" b="0" i="0" dirty="0">
                <a:solidFill>
                  <a:srgbClr val="9CA3AF"/>
                </a:solidFill>
                <a:latin typeface="Segoe UI"/>
              </a:rPr>
              <a:t>• Each service is different tech stack</a:t>
            </a:r>
          </a:p>
        </p:txBody>
      </p:sp>
      <p:sp>
        <p:nvSpPr>
          <p:cNvPr id="21" name="TextBox 20"/>
          <p:cNvSpPr txBox="1"/>
          <p:nvPr/>
        </p:nvSpPr>
        <p:spPr>
          <a:xfrm>
            <a:off x="8326526" y="2180842"/>
            <a:ext cx="3271723" cy="276999"/>
          </a:xfrm>
          <a:prstGeom prst="rect">
            <a:avLst/>
          </a:prstGeom>
          <a:noFill/>
        </p:spPr>
        <p:txBody>
          <a:bodyPr wrap="square">
            <a:spAutoFit/>
          </a:bodyPr>
          <a:lstStyle/>
          <a:p>
            <a:r>
              <a:rPr sz="1200" b="0" i="0" dirty="0">
                <a:solidFill>
                  <a:srgbClr val="9CA3AF"/>
                </a:solidFill>
                <a:latin typeface="Segoe UI"/>
              </a:rPr>
              <a:t>• No shared knowledge base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HVE Resiliency Research Skill</a:t>
            </a:r>
          </a:p>
        </p:txBody>
      </p:sp>
      <p:sp>
        <p:nvSpPr>
          <p:cNvPr id="4" name="Rounded Rectangle 3"/>
          <p:cNvSpPr/>
          <p:nvPr/>
        </p:nvSpPr>
        <p:spPr>
          <a:xfrm>
            <a:off x="411480" y="1395643"/>
            <a:ext cx="5486400" cy="1960205"/>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ectangle 4"/>
          <p:cNvSpPr/>
          <p:nvPr/>
        </p:nvSpPr>
        <p:spPr>
          <a:xfrm>
            <a:off x="594360" y="896112"/>
            <a:ext cx="521208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400" b="1" i="0">
                <a:solidFill>
                  <a:srgbClr val="F8F8FC"/>
                </a:solidFill>
                <a:latin typeface="Segoe UI"/>
              </a:rPr>
              <a:t>WHAT IT IS</a:t>
            </a:r>
          </a:p>
        </p:txBody>
      </p:sp>
      <p:sp>
        <p:nvSpPr>
          <p:cNvPr id="7" name="TextBox 6"/>
          <p:cNvSpPr txBox="1"/>
          <p:nvPr/>
        </p:nvSpPr>
        <p:spPr>
          <a:xfrm>
            <a:off x="640080" y="1444752"/>
            <a:ext cx="5120640" cy="276999"/>
          </a:xfrm>
          <a:prstGeom prst="rect">
            <a:avLst/>
          </a:prstGeom>
          <a:noFill/>
        </p:spPr>
        <p:txBody>
          <a:bodyPr wrap="square">
            <a:spAutoFit/>
          </a:bodyPr>
          <a:lstStyle/>
          <a:p>
            <a:r>
              <a:rPr sz="1200" b="0" i="0" dirty="0">
                <a:solidFill>
                  <a:srgbClr val="F8F8FC"/>
                </a:solidFill>
                <a:latin typeface="Segoe UI"/>
              </a:rPr>
              <a:t>• A GitHub Copilot Skill — a structured prompt orchestration framework</a:t>
            </a:r>
          </a:p>
        </p:txBody>
      </p:sp>
      <p:sp>
        <p:nvSpPr>
          <p:cNvPr id="8" name="TextBox 7"/>
          <p:cNvSpPr txBox="1"/>
          <p:nvPr/>
        </p:nvSpPr>
        <p:spPr>
          <a:xfrm>
            <a:off x="640080" y="1956476"/>
            <a:ext cx="5120640" cy="320040"/>
          </a:xfrm>
          <a:prstGeom prst="rect">
            <a:avLst/>
          </a:prstGeom>
          <a:noFill/>
        </p:spPr>
        <p:txBody>
          <a:bodyPr wrap="square">
            <a:spAutoFit/>
          </a:bodyPr>
          <a:lstStyle/>
          <a:p>
            <a:r>
              <a:rPr sz="1400" b="0" i="0" dirty="0">
                <a:solidFill>
                  <a:srgbClr val="9CA3AF"/>
                </a:solidFill>
                <a:latin typeface="Segoe UI"/>
              </a:rPr>
              <a:t>• Lives in the </a:t>
            </a:r>
            <a:r>
              <a:rPr sz="1200" b="0" i="0" dirty="0">
                <a:solidFill>
                  <a:srgbClr val="9CA3AF"/>
                </a:solidFill>
                <a:latin typeface="Segoe UI"/>
              </a:rPr>
              <a:t>repository</a:t>
            </a:r>
            <a:r>
              <a:rPr sz="1400" b="0" i="0" dirty="0">
                <a:solidFill>
                  <a:srgbClr val="9CA3AF"/>
                </a:solidFill>
                <a:latin typeface="Segoe UI"/>
              </a:rPr>
              <a:t> alongside the code it analyzes</a:t>
            </a:r>
          </a:p>
        </p:txBody>
      </p:sp>
      <p:sp>
        <p:nvSpPr>
          <p:cNvPr id="9" name="TextBox 8"/>
          <p:cNvSpPr txBox="1"/>
          <p:nvPr/>
        </p:nvSpPr>
        <p:spPr>
          <a:xfrm>
            <a:off x="640080" y="2335953"/>
            <a:ext cx="5120640" cy="320040"/>
          </a:xfrm>
          <a:prstGeom prst="rect">
            <a:avLst/>
          </a:prstGeom>
          <a:noFill/>
        </p:spPr>
        <p:txBody>
          <a:bodyPr wrap="square">
            <a:spAutoFit/>
          </a:bodyPr>
          <a:lstStyle/>
          <a:p>
            <a:r>
              <a:rPr sz="1400" b="0" i="0" dirty="0">
                <a:solidFill>
                  <a:srgbClr val="F8F8FC"/>
                </a:solidFill>
                <a:latin typeface="Segoe UI"/>
              </a:rPr>
              <a:t>• Invoked with a single </a:t>
            </a:r>
            <a:r>
              <a:rPr sz="1200" b="0" i="0" dirty="0">
                <a:solidFill>
                  <a:srgbClr val="F8F8FC"/>
                </a:solidFill>
                <a:latin typeface="Segoe UI"/>
              </a:rPr>
              <a:t>command</a:t>
            </a:r>
            <a:r>
              <a:rPr sz="1400" b="0" i="0" dirty="0">
                <a:solidFill>
                  <a:srgbClr val="F8F8FC"/>
                </a:solidFill>
                <a:latin typeface="Segoe UI"/>
              </a:rPr>
              <a:t>: /resiliency-research</a:t>
            </a:r>
          </a:p>
        </p:txBody>
      </p:sp>
      <p:sp>
        <p:nvSpPr>
          <p:cNvPr id="10" name="TextBox 9"/>
          <p:cNvSpPr txBox="1"/>
          <p:nvPr/>
        </p:nvSpPr>
        <p:spPr>
          <a:xfrm>
            <a:off x="594360" y="2816012"/>
            <a:ext cx="5120640" cy="276999"/>
          </a:xfrm>
          <a:prstGeom prst="rect">
            <a:avLst/>
          </a:prstGeom>
          <a:noFill/>
        </p:spPr>
        <p:txBody>
          <a:bodyPr wrap="square">
            <a:spAutoFit/>
          </a:bodyPr>
          <a:lstStyle/>
          <a:p>
            <a:r>
              <a:rPr sz="1200" b="0" i="0" dirty="0">
                <a:solidFill>
                  <a:srgbClr val="9CA3AF"/>
                </a:solidFill>
                <a:latin typeface="Segoe UI"/>
              </a:rPr>
              <a:t>• Automatically routes through 4 phases — no manual prompt selection</a:t>
            </a:r>
          </a:p>
        </p:txBody>
      </p:sp>
      <p:sp>
        <p:nvSpPr>
          <p:cNvPr id="11" name="Rounded Rectangle 10"/>
          <p:cNvSpPr/>
          <p:nvPr/>
        </p:nvSpPr>
        <p:spPr>
          <a:xfrm>
            <a:off x="6248095" y="1450509"/>
            <a:ext cx="5486400" cy="190534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0975" y="987552"/>
            <a:ext cx="5120640" cy="365760"/>
          </a:xfrm>
          <a:prstGeom prst="rect">
            <a:avLst/>
          </a:prstGeom>
          <a:noFill/>
        </p:spPr>
        <p:txBody>
          <a:bodyPr wrap="square">
            <a:spAutoFit/>
          </a:bodyPr>
          <a:lstStyle/>
          <a:p>
            <a:r>
              <a:rPr sz="1400" b="1" i="0">
                <a:solidFill>
                  <a:srgbClr val="F8F8FC"/>
                </a:solidFill>
                <a:latin typeface="Segoe UI"/>
              </a:rPr>
              <a:t>WHAT IT PRODUCES</a:t>
            </a:r>
          </a:p>
        </p:txBody>
      </p:sp>
      <p:sp>
        <p:nvSpPr>
          <p:cNvPr id="14" name="TextBox 13"/>
          <p:cNvSpPr txBox="1"/>
          <p:nvPr/>
        </p:nvSpPr>
        <p:spPr>
          <a:xfrm>
            <a:off x="6430975" y="1444752"/>
            <a:ext cx="5120640" cy="320040"/>
          </a:xfrm>
          <a:prstGeom prst="rect">
            <a:avLst/>
          </a:prstGeom>
          <a:noFill/>
        </p:spPr>
        <p:txBody>
          <a:bodyPr wrap="square">
            <a:spAutoFit/>
          </a:bodyPr>
          <a:lstStyle/>
          <a:p>
            <a:r>
              <a:rPr sz="1400" b="0" i="0" dirty="0">
                <a:solidFill>
                  <a:srgbClr val="F8F8FC"/>
                </a:solidFill>
                <a:latin typeface="Segoe UI"/>
              </a:rPr>
              <a:t>• </a:t>
            </a:r>
            <a:r>
              <a:rPr sz="1200" b="0" i="0" dirty="0">
                <a:solidFill>
                  <a:srgbClr val="F8F8FC"/>
                </a:solidFill>
                <a:latin typeface="Segoe UI"/>
              </a:rPr>
              <a:t>Consolidated Research Report — evidence-only forensic analysis</a:t>
            </a:r>
          </a:p>
        </p:txBody>
      </p:sp>
      <p:sp>
        <p:nvSpPr>
          <p:cNvPr id="15" name="TextBox 14"/>
          <p:cNvSpPr txBox="1"/>
          <p:nvPr/>
        </p:nvSpPr>
        <p:spPr>
          <a:xfrm>
            <a:off x="6430975" y="1861988"/>
            <a:ext cx="5120640" cy="320040"/>
          </a:xfrm>
          <a:prstGeom prst="rect">
            <a:avLst/>
          </a:prstGeom>
          <a:noFill/>
        </p:spPr>
        <p:txBody>
          <a:bodyPr wrap="square">
            <a:spAutoFit/>
          </a:bodyPr>
          <a:lstStyle/>
          <a:p>
            <a:r>
              <a:rPr sz="1400" b="0" i="0" dirty="0">
                <a:solidFill>
                  <a:srgbClr val="9CA3AF"/>
                </a:solidFill>
                <a:latin typeface="Segoe UI"/>
              </a:rPr>
              <a:t>• </a:t>
            </a:r>
            <a:r>
              <a:rPr sz="1200" b="0" i="0" dirty="0">
                <a:solidFill>
                  <a:srgbClr val="9CA3AF"/>
                </a:solidFill>
                <a:latin typeface="Segoe UI"/>
              </a:rPr>
              <a:t>Master Report — executive-level prioritized findings</a:t>
            </a:r>
          </a:p>
        </p:txBody>
      </p:sp>
      <p:sp>
        <p:nvSpPr>
          <p:cNvPr id="16" name="TextBox 15"/>
          <p:cNvSpPr txBox="1"/>
          <p:nvPr/>
        </p:nvSpPr>
        <p:spPr>
          <a:xfrm>
            <a:off x="6430975" y="2205904"/>
            <a:ext cx="5120640" cy="276999"/>
          </a:xfrm>
          <a:prstGeom prst="rect">
            <a:avLst/>
          </a:prstGeom>
          <a:noFill/>
        </p:spPr>
        <p:txBody>
          <a:bodyPr wrap="square">
            <a:spAutoFit/>
          </a:bodyPr>
          <a:lstStyle/>
          <a:p>
            <a:r>
              <a:rPr sz="1200" b="0" i="0" dirty="0">
                <a:solidFill>
                  <a:srgbClr val="F8F8FC"/>
                </a:solidFill>
                <a:latin typeface="Segoe UI"/>
              </a:rPr>
              <a:t>• Developer Guide — before/after code fixes with </a:t>
            </a:r>
            <a:r>
              <a:rPr sz="1200" b="0" i="0" dirty="0" err="1">
                <a:solidFill>
                  <a:srgbClr val="F8F8FC"/>
                </a:solidFill>
                <a:latin typeface="Segoe UI"/>
              </a:rPr>
              <a:t>file+line</a:t>
            </a:r>
            <a:endParaRPr sz="1200" b="0" i="0" dirty="0">
              <a:solidFill>
                <a:srgbClr val="F8F8FC"/>
              </a:solidFill>
              <a:latin typeface="Segoe UI"/>
            </a:endParaRPr>
          </a:p>
        </p:txBody>
      </p:sp>
      <p:sp>
        <p:nvSpPr>
          <p:cNvPr id="17" name="TextBox 16"/>
          <p:cNvSpPr txBox="1"/>
          <p:nvPr/>
        </p:nvSpPr>
        <p:spPr>
          <a:xfrm>
            <a:off x="6476695" y="2699848"/>
            <a:ext cx="5120640" cy="276999"/>
          </a:xfrm>
          <a:prstGeom prst="rect">
            <a:avLst/>
          </a:prstGeom>
          <a:noFill/>
        </p:spPr>
        <p:txBody>
          <a:bodyPr wrap="square">
            <a:spAutoFit/>
          </a:bodyPr>
          <a:lstStyle/>
          <a:p>
            <a:r>
              <a:rPr sz="1200" b="0" i="0" dirty="0">
                <a:solidFill>
                  <a:srgbClr val="9CA3AF"/>
                </a:solidFill>
                <a:latin typeface="Segoe UI"/>
              </a:rPr>
              <a:t>• Code-Level Assessment — WAF-aligned, full finding 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Four Phases. One Automated Pipeline.</a:t>
            </a:r>
          </a:p>
        </p:txBody>
      </p:sp>
      <p:sp>
        <p:nvSpPr>
          <p:cNvPr id="4" name="Chevron 3"/>
          <p:cNvSpPr/>
          <p:nvPr/>
        </p:nvSpPr>
        <p:spPr>
          <a:xfrm>
            <a:off x="457200"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CORE RESEARCH</a:t>
            </a:r>
          </a:p>
        </p:txBody>
      </p:sp>
      <p:sp>
        <p:nvSpPr>
          <p:cNvPr id="5" name="Chevron 4"/>
          <p:cNvSpPr/>
          <p:nvPr/>
        </p:nvSpPr>
        <p:spPr>
          <a:xfrm>
            <a:off x="3276523" y="804672"/>
            <a:ext cx="2545003" cy="822960"/>
          </a:xfrm>
          <a:prstGeom prst="chevron">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SERVICE ANALYSIS</a:t>
            </a:r>
          </a:p>
        </p:txBody>
      </p:sp>
      <p:sp>
        <p:nvSpPr>
          <p:cNvPr id="6" name="Chevron 5"/>
          <p:cNvSpPr/>
          <p:nvPr/>
        </p:nvSpPr>
        <p:spPr>
          <a:xfrm>
            <a:off x="6095847"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CONSOLIDATION</a:t>
            </a:r>
          </a:p>
        </p:txBody>
      </p:sp>
      <p:sp>
        <p:nvSpPr>
          <p:cNvPr id="7" name="Chevron 6"/>
          <p:cNvSpPr/>
          <p:nvPr/>
        </p:nvSpPr>
        <p:spPr>
          <a:xfrm>
            <a:off x="8915171" y="804672"/>
            <a:ext cx="2545003" cy="822960"/>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8F8FC"/>
                </a:solidFill>
                <a:latin typeface="Segoe UI"/>
              </a:rPr>
              <a:t>PLANNING</a:t>
            </a:r>
          </a:p>
        </p:txBody>
      </p:sp>
      <p:sp>
        <p:nvSpPr>
          <p:cNvPr id="8" name="Rounded Rectangle 7"/>
          <p:cNvSpPr/>
          <p:nvPr/>
        </p:nvSpPr>
        <p:spPr>
          <a:xfrm>
            <a:off x="457200"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993392"/>
            <a:ext cx="2339035" cy="365760"/>
          </a:xfrm>
          <a:prstGeom prst="rect">
            <a:avLst/>
          </a:prstGeom>
          <a:noFill/>
        </p:spPr>
        <p:txBody>
          <a:bodyPr wrap="square">
            <a:spAutoFit/>
          </a:bodyPr>
          <a:lstStyle/>
          <a:p>
            <a:r>
              <a:rPr sz="1200" b="1" i="0">
                <a:solidFill>
                  <a:srgbClr val="F8F8FC"/>
                </a:solidFill>
                <a:latin typeface="Segoe UI"/>
              </a:rPr>
              <a:t>PHASE 1</a:t>
            </a:r>
          </a:p>
        </p:txBody>
      </p:sp>
      <p:sp>
        <p:nvSpPr>
          <p:cNvPr id="11" name="TextBox 10"/>
          <p:cNvSpPr txBox="1"/>
          <p:nvPr/>
        </p:nvSpPr>
        <p:spPr>
          <a:xfrm>
            <a:off x="640080" y="2450591"/>
            <a:ext cx="2339035" cy="320040"/>
          </a:xfrm>
          <a:prstGeom prst="rect">
            <a:avLst/>
          </a:prstGeom>
          <a:noFill/>
        </p:spPr>
        <p:txBody>
          <a:bodyPr wrap="square">
            <a:spAutoFit/>
          </a:bodyPr>
          <a:lstStyle/>
          <a:p>
            <a:r>
              <a:rPr sz="1400" b="0" i="0">
                <a:solidFill>
                  <a:srgbClr val="0078D4"/>
                </a:solidFill>
                <a:latin typeface="Segoe UI"/>
              </a:rPr>
              <a:t>• Prompts 0–7</a:t>
            </a:r>
          </a:p>
        </p:txBody>
      </p:sp>
      <p:sp>
        <p:nvSpPr>
          <p:cNvPr id="12" name="TextBox 11"/>
          <p:cNvSpPr txBox="1"/>
          <p:nvPr/>
        </p:nvSpPr>
        <p:spPr>
          <a:xfrm>
            <a:off x="640080" y="2770632"/>
            <a:ext cx="2339035" cy="320040"/>
          </a:xfrm>
          <a:prstGeom prst="rect">
            <a:avLst/>
          </a:prstGeom>
          <a:noFill/>
        </p:spPr>
        <p:txBody>
          <a:bodyPr wrap="square">
            <a:spAutoFit/>
          </a:bodyPr>
          <a:lstStyle/>
          <a:p>
            <a:r>
              <a:rPr sz="1400" b="0" i="0">
                <a:solidFill>
                  <a:srgbClr val="F8F8FC"/>
                </a:solidFill>
                <a:latin typeface="Segoe UI"/>
              </a:rPr>
              <a:t>• Architecture walkthrough</a:t>
            </a:r>
          </a:p>
        </p:txBody>
      </p:sp>
      <p:sp>
        <p:nvSpPr>
          <p:cNvPr id="13" name="TextBox 12"/>
          <p:cNvSpPr txBox="1"/>
          <p:nvPr/>
        </p:nvSpPr>
        <p:spPr>
          <a:xfrm>
            <a:off x="640080" y="3090672"/>
            <a:ext cx="2339035" cy="320040"/>
          </a:xfrm>
          <a:prstGeom prst="rect">
            <a:avLst/>
          </a:prstGeom>
          <a:noFill/>
        </p:spPr>
        <p:txBody>
          <a:bodyPr wrap="square">
            <a:spAutoFit/>
          </a:bodyPr>
          <a:lstStyle/>
          <a:p>
            <a:r>
              <a:rPr sz="1400" b="0" i="0">
                <a:solidFill>
                  <a:srgbClr val="9CA3AF"/>
                </a:solidFill>
                <a:latin typeface="Segoe UI"/>
              </a:rPr>
              <a:t>• Zone failure analysis</a:t>
            </a:r>
          </a:p>
        </p:txBody>
      </p:sp>
      <p:sp>
        <p:nvSpPr>
          <p:cNvPr id="14" name="TextBox 13"/>
          <p:cNvSpPr txBox="1"/>
          <p:nvPr/>
        </p:nvSpPr>
        <p:spPr>
          <a:xfrm>
            <a:off x="640080" y="3410712"/>
            <a:ext cx="2339035" cy="320040"/>
          </a:xfrm>
          <a:prstGeom prst="rect">
            <a:avLst/>
          </a:prstGeom>
          <a:noFill/>
        </p:spPr>
        <p:txBody>
          <a:bodyPr wrap="square">
            <a:spAutoFit/>
          </a:bodyPr>
          <a:lstStyle/>
          <a:p>
            <a:r>
              <a:rPr sz="1400" b="0" i="0">
                <a:solidFill>
                  <a:srgbClr val="9CA3AF"/>
                </a:solidFill>
                <a:latin typeface="Segoe UI"/>
              </a:rPr>
              <a:t>• Dependency inventory</a:t>
            </a:r>
          </a:p>
        </p:txBody>
      </p:sp>
      <p:sp>
        <p:nvSpPr>
          <p:cNvPr id="15" name="TextBox 14"/>
          <p:cNvSpPr txBox="1"/>
          <p:nvPr/>
        </p:nvSpPr>
        <p:spPr>
          <a:xfrm>
            <a:off x="640080" y="3730752"/>
            <a:ext cx="2339035" cy="320040"/>
          </a:xfrm>
          <a:prstGeom prst="rect">
            <a:avLst/>
          </a:prstGeom>
          <a:noFill/>
        </p:spPr>
        <p:txBody>
          <a:bodyPr wrap="square">
            <a:spAutoFit/>
          </a:bodyPr>
          <a:lstStyle/>
          <a:p>
            <a:r>
              <a:rPr sz="1400" b="0" i="0">
                <a:solidFill>
                  <a:srgbClr val="9CA3AF"/>
                </a:solidFill>
                <a:latin typeface="Segoe UI"/>
              </a:rPr>
              <a:t>• State classification</a:t>
            </a:r>
          </a:p>
        </p:txBody>
      </p:sp>
      <p:sp>
        <p:nvSpPr>
          <p:cNvPr id="16" name="TextBox 15"/>
          <p:cNvSpPr txBox="1"/>
          <p:nvPr/>
        </p:nvSpPr>
        <p:spPr>
          <a:xfrm>
            <a:off x="640080" y="4050791"/>
            <a:ext cx="2339035" cy="320040"/>
          </a:xfrm>
          <a:prstGeom prst="rect">
            <a:avLst/>
          </a:prstGeom>
          <a:noFill/>
        </p:spPr>
        <p:txBody>
          <a:bodyPr wrap="square">
            <a:spAutoFit/>
          </a:bodyPr>
          <a:lstStyle/>
          <a:p>
            <a:r>
              <a:rPr sz="1400" b="0" i="0">
                <a:solidFill>
                  <a:srgbClr val="9CA3AF"/>
                </a:solidFill>
                <a:latin typeface="Segoe UI"/>
              </a:rPr>
              <a:t>• Failure mode mapping</a:t>
            </a:r>
          </a:p>
        </p:txBody>
      </p:sp>
      <p:sp>
        <p:nvSpPr>
          <p:cNvPr id="17" name="TextBox 16"/>
          <p:cNvSpPr txBox="1"/>
          <p:nvPr/>
        </p:nvSpPr>
        <p:spPr>
          <a:xfrm>
            <a:off x="640080" y="4370832"/>
            <a:ext cx="3398520" cy="320040"/>
          </a:xfrm>
          <a:prstGeom prst="rect">
            <a:avLst/>
          </a:prstGeom>
          <a:noFill/>
        </p:spPr>
        <p:txBody>
          <a:bodyPr wrap="square">
            <a:spAutoFit/>
          </a:bodyPr>
          <a:lstStyle/>
          <a:p>
            <a:r>
              <a:rPr sz="1400" b="0" i="0" dirty="0">
                <a:solidFill>
                  <a:srgbClr val="9CA3AF"/>
                </a:solidFill>
                <a:latin typeface="Segoe UI"/>
              </a:rPr>
              <a:t>• Cross-service dependencies</a:t>
            </a:r>
          </a:p>
        </p:txBody>
      </p:sp>
      <p:sp>
        <p:nvSpPr>
          <p:cNvPr id="18" name="TextBox 17"/>
          <p:cNvSpPr txBox="1"/>
          <p:nvPr/>
        </p:nvSpPr>
        <p:spPr>
          <a:xfrm>
            <a:off x="640079" y="4713731"/>
            <a:ext cx="2339035" cy="320040"/>
          </a:xfrm>
          <a:prstGeom prst="rect">
            <a:avLst/>
          </a:prstGeom>
          <a:noFill/>
        </p:spPr>
        <p:txBody>
          <a:bodyPr wrap="square">
            <a:spAutoFit/>
          </a:bodyPr>
          <a:lstStyle/>
          <a:p>
            <a:r>
              <a:rPr sz="1400" b="0" i="0" dirty="0">
                <a:solidFill>
                  <a:srgbClr val="9CA3AF"/>
                </a:solidFill>
                <a:latin typeface="Segoe UI"/>
              </a:rPr>
              <a:t>• Shared dependency risks</a:t>
            </a:r>
          </a:p>
        </p:txBody>
      </p:sp>
      <p:sp>
        <p:nvSpPr>
          <p:cNvPr id="19" name="TextBox 18"/>
          <p:cNvSpPr txBox="1"/>
          <p:nvPr/>
        </p:nvSpPr>
        <p:spPr>
          <a:xfrm>
            <a:off x="640080" y="5060356"/>
            <a:ext cx="2339035" cy="320040"/>
          </a:xfrm>
          <a:prstGeom prst="rect">
            <a:avLst/>
          </a:prstGeom>
          <a:noFill/>
        </p:spPr>
        <p:txBody>
          <a:bodyPr wrap="square">
            <a:spAutoFit/>
          </a:bodyPr>
          <a:lstStyle/>
          <a:p>
            <a:r>
              <a:rPr sz="1400" b="0" i="0" dirty="0">
                <a:solidFill>
                  <a:srgbClr val="9CA3AF"/>
                </a:solidFill>
                <a:latin typeface="Segoe UI"/>
              </a:rPr>
              <a:t>• Logging gaps</a:t>
            </a:r>
          </a:p>
        </p:txBody>
      </p:sp>
      <p:sp>
        <p:nvSpPr>
          <p:cNvPr id="20" name="Rounded Rectangle 19"/>
          <p:cNvSpPr/>
          <p:nvPr/>
        </p:nvSpPr>
        <p:spPr>
          <a:xfrm>
            <a:off x="3344876" y="2322576"/>
            <a:ext cx="2842868"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82035" y="1901952"/>
            <a:ext cx="24304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27755" y="1993392"/>
            <a:ext cx="2339035" cy="365760"/>
          </a:xfrm>
          <a:prstGeom prst="rect">
            <a:avLst/>
          </a:prstGeom>
          <a:noFill/>
        </p:spPr>
        <p:txBody>
          <a:bodyPr wrap="square">
            <a:spAutoFit/>
          </a:bodyPr>
          <a:lstStyle/>
          <a:p>
            <a:r>
              <a:rPr sz="1200" b="1" i="0">
                <a:solidFill>
                  <a:srgbClr val="F8F8FC"/>
                </a:solidFill>
                <a:latin typeface="Segoe UI"/>
              </a:rPr>
              <a:t>PHASE 2</a:t>
            </a:r>
          </a:p>
        </p:txBody>
      </p:sp>
      <p:sp>
        <p:nvSpPr>
          <p:cNvPr id="23" name="TextBox 22"/>
          <p:cNvSpPr txBox="1"/>
          <p:nvPr/>
        </p:nvSpPr>
        <p:spPr>
          <a:xfrm>
            <a:off x="3527755" y="2450591"/>
            <a:ext cx="2339035" cy="320040"/>
          </a:xfrm>
          <a:prstGeom prst="rect">
            <a:avLst/>
          </a:prstGeom>
          <a:noFill/>
        </p:spPr>
        <p:txBody>
          <a:bodyPr wrap="square">
            <a:spAutoFit/>
          </a:bodyPr>
          <a:lstStyle/>
          <a:p>
            <a:r>
              <a:rPr sz="1400" b="0" i="0">
                <a:solidFill>
                  <a:srgbClr val="0078D4"/>
                </a:solidFill>
                <a:latin typeface="Segoe UI"/>
              </a:rPr>
              <a:t>• Prompts 8–19</a:t>
            </a:r>
          </a:p>
        </p:txBody>
      </p:sp>
      <p:sp>
        <p:nvSpPr>
          <p:cNvPr id="24" name="TextBox 23"/>
          <p:cNvSpPr txBox="1"/>
          <p:nvPr/>
        </p:nvSpPr>
        <p:spPr>
          <a:xfrm>
            <a:off x="3527755" y="2770632"/>
            <a:ext cx="2704794" cy="320040"/>
          </a:xfrm>
          <a:prstGeom prst="rect">
            <a:avLst/>
          </a:prstGeom>
          <a:noFill/>
        </p:spPr>
        <p:txBody>
          <a:bodyPr wrap="square">
            <a:spAutoFit/>
          </a:bodyPr>
          <a:lstStyle/>
          <a:p>
            <a:r>
              <a:rPr sz="1400" b="0" i="0" dirty="0">
                <a:solidFill>
                  <a:srgbClr val="F8F8FC"/>
                </a:solidFill>
                <a:latin typeface="Segoe UI"/>
              </a:rPr>
              <a:t>• Service-specific deep dives</a:t>
            </a:r>
          </a:p>
        </p:txBody>
      </p:sp>
      <p:sp>
        <p:nvSpPr>
          <p:cNvPr id="25" name="TextBox 24"/>
          <p:cNvSpPr txBox="1"/>
          <p:nvPr/>
        </p:nvSpPr>
        <p:spPr>
          <a:xfrm>
            <a:off x="3527755" y="3090672"/>
            <a:ext cx="2704794" cy="307777"/>
          </a:xfrm>
          <a:prstGeom prst="rect">
            <a:avLst/>
          </a:prstGeom>
          <a:noFill/>
        </p:spPr>
        <p:txBody>
          <a:bodyPr wrap="square">
            <a:spAutoFit/>
          </a:bodyPr>
          <a:lstStyle/>
          <a:p>
            <a:r>
              <a:rPr sz="1400" b="0" i="0" dirty="0">
                <a:solidFill>
                  <a:srgbClr val="9CA3AF"/>
                </a:solidFill>
                <a:latin typeface="Segoe UI"/>
              </a:rPr>
              <a:t>• Only confirmed dependencies</a:t>
            </a:r>
          </a:p>
        </p:txBody>
      </p:sp>
      <p:sp>
        <p:nvSpPr>
          <p:cNvPr id="26" name="TextBox 25"/>
          <p:cNvSpPr txBox="1"/>
          <p:nvPr/>
        </p:nvSpPr>
        <p:spPr>
          <a:xfrm>
            <a:off x="3526840" y="3431469"/>
            <a:ext cx="2339035" cy="320040"/>
          </a:xfrm>
          <a:prstGeom prst="rect">
            <a:avLst/>
          </a:prstGeom>
          <a:noFill/>
        </p:spPr>
        <p:txBody>
          <a:bodyPr wrap="square">
            <a:spAutoFit/>
          </a:bodyPr>
          <a:lstStyle/>
          <a:p>
            <a:r>
              <a:rPr sz="1400" b="0" i="0" dirty="0">
                <a:solidFill>
                  <a:srgbClr val="9CA3AF"/>
                </a:solidFill>
                <a:latin typeface="Segoe UI"/>
              </a:rPr>
              <a:t>• AKS + Istio</a:t>
            </a:r>
          </a:p>
        </p:txBody>
      </p:sp>
      <p:sp>
        <p:nvSpPr>
          <p:cNvPr id="27" name="TextBox 26"/>
          <p:cNvSpPr txBox="1"/>
          <p:nvPr/>
        </p:nvSpPr>
        <p:spPr>
          <a:xfrm>
            <a:off x="3527755" y="3730752"/>
            <a:ext cx="2339035" cy="320040"/>
          </a:xfrm>
          <a:prstGeom prst="rect">
            <a:avLst/>
          </a:prstGeom>
          <a:noFill/>
        </p:spPr>
        <p:txBody>
          <a:bodyPr wrap="square">
            <a:spAutoFit/>
          </a:bodyPr>
          <a:lstStyle/>
          <a:p>
            <a:r>
              <a:rPr sz="1400" b="0" i="0" dirty="0">
                <a:solidFill>
                  <a:srgbClr val="9CA3AF"/>
                </a:solidFill>
                <a:latin typeface="Segoe UI"/>
              </a:rPr>
              <a:t>• APIM + App Gateway</a:t>
            </a:r>
          </a:p>
        </p:txBody>
      </p:sp>
      <p:sp>
        <p:nvSpPr>
          <p:cNvPr id="28" name="TextBox 27"/>
          <p:cNvSpPr txBox="1"/>
          <p:nvPr/>
        </p:nvSpPr>
        <p:spPr>
          <a:xfrm>
            <a:off x="3527755" y="4050791"/>
            <a:ext cx="2339035" cy="320040"/>
          </a:xfrm>
          <a:prstGeom prst="rect">
            <a:avLst/>
          </a:prstGeom>
          <a:noFill/>
        </p:spPr>
        <p:txBody>
          <a:bodyPr wrap="square">
            <a:spAutoFit/>
          </a:bodyPr>
          <a:lstStyle/>
          <a:p>
            <a:r>
              <a:rPr sz="1400" b="0" i="0" dirty="0">
                <a:solidFill>
                  <a:srgbClr val="9CA3AF"/>
                </a:solidFill>
                <a:latin typeface="Segoe UI"/>
              </a:rPr>
              <a:t>• Cosmos DB + SQL</a:t>
            </a:r>
          </a:p>
        </p:txBody>
      </p:sp>
      <p:sp>
        <p:nvSpPr>
          <p:cNvPr id="29" name="TextBox 28"/>
          <p:cNvSpPr txBox="1"/>
          <p:nvPr/>
        </p:nvSpPr>
        <p:spPr>
          <a:xfrm>
            <a:off x="3527755" y="4370832"/>
            <a:ext cx="2339035" cy="320040"/>
          </a:xfrm>
          <a:prstGeom prst="rect">
            <a:avLst/>
          </a:prstGeom>
          <a:noFill/>
        </p:spPr>
        <p:txBody>
          <a:bodyPr wrap="square">
            <a:spAutoFit/>
          </a:bodyPr>
          <a:lstStyle/>
          <a:p>
            <a:r>
              <a:rPr sz="1400" b="0" i="0">
                <a:solidFill>
                  <a:srgbClr val="9CA3AF"/>
                </a:solidFill>
                <a:latin typeface="Segoe UI"/>
              </a:rPr>
              <a:t>• Key Vault + Networking</a:t>
            </a:r>
          </a:p>
        </p:txBody>
      </p:sp>
      <p:sp>
        <p:nvSpPr>
          <p:cNvPr id="30" name="TextBox 29"/>
          <p:cNvSpPr txBox="1"/>
          <p:nvPr/>
        </p:nvSpPr>
        <p:spPr>
          <a:xfrm>
            <a:off x="3527755" y="4690872"/>
            <a:ext cx="2339035" cy="320040"/>
          </a:xfrm>
          <a:prstGeom prst="rect">
            <a:avLst/>
          </a:prstGeom>
          <a:noFill/>
        </p:spPr>
        <p:txBody>
          <a:bodyPr wrap="square">
            <a:spAutoFit/>
          </a:bodyPr>
          <a:lstStyle/>
          <a:p>
            <a:r>
              <a:rPr sz="1400" b="0" i="0">
                <a:solidFill>
                  <a:srgbClr val="9CA3AF"/>
                </a:solidFill>
                <a:latin typeface="Segoe UI"/>
              </a:rPr>
              <a:t>• Entra ID + Redis</a:t>
            </a:r>
          </a:p>
        </p:txBody>
      </p:sp>
      <p:sp>
        <p:nvSpPr>
          <p:cNvPr id="31" name="Rounded Rectangle 30"/>
          <p:cNvSpPr/>
          <p:nvPr/>
        </p:nvSpPr>
        <p:spPr>
          <a:xfrm>
            <a:off x="6233464" y="2322576"/>
            <a:ext cx="2704795" cy="332841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370624"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6344" y="1993392"/>
            <a:ext cx="2339035" cy="365760"/>
          </a:xfrm>
          <a:prstGeom prst="rect">
            <a:avLst/>
          </a:prstGeom>
          <a:noFill/>
        </p:spPr>
        <p:txBody>
          <a:bodyPr wrap="square">
            <a:spAutoFit/>
          </a:bodyPr>
          <a:lstStyle/>
          <a:p>
            <a:r>
              <a:rPr sz="1200" b="1" i="0">
                <a:solidFill>
                  <a:srgbClr val="F8F8FC"/>
                </a:solidFill>
                <a:latin typeface="Segoe UI"/>
              </a:rPr>
              <a:t>PHASE 3</a:t>
            </a:r>
          </a:p>
        </p:txBody>
      </p:sp>
      <p:sp>
        <p:nvSpPr>
          <p:cNvPr id="34" name="TextBox 33"/>
          <p:cNvSpPr txBox="1"/>
          <p:nvPr/>
        </p:nvSpPr>
        <p:spPr>
          <a:xfrm>
            <a:off x="6416344" y="2450591"/>
            <a:ext cx="2339035" cy="320040"/>
          </a:xfrm>
          <a:prstGeom prst="rect">
            <a:avLst/>
          </a:prstGeom>
          <a:noFill/>
        </p:spPr>
        <p:txBody>
          <a:bodyPr wrap="square">
            <a:spAutoFit/>
          </a:bodyPr>
          <a:lstStyle/>
          <a:p>
            <a:r>
              <a:rPr sz="1400" b="0" i="0">
                <a:solidFill>
                  <a:srgbClr val="10B981"/>
                </a:solidFill>
                <a:latin typeface="Segoe UI"/>
              </a:rPr>
              <a:t>• Consolidation prompt</a:t>
            </a:r>
          </a:p>
        </p:txBody>
      </p:sp>
      <p:sp>
        <p:nvSpPr>
          <p:cNvPr id="35" name="TextBox 34"/>
          <p:cNvSpPr txBox="1"/>
          <p:nvPr/>
        </p:nvSpPr>
        <p:spPr>
          <a:xfrm>
            <a:off x="6416344" y="2770632"/>
            <a:ext cx="2521915" cy="523220"/>
          </a:xfrm>
          <a:prstGeom prst="rect">
            <a:avLst/>
          </a:prstGeom>
          <a:noFill/>
        </p:spPr>
        <p:txBody>
          <a:bodyPr wrap="square">
            <a:spAutoFit/>
          </a:bodyPr>
          <a:lstStyle/>
          <a:p>
            <a:r>
              <a:rPr sz="1400" b="0" i="0" dirty="0">
                <a:solidFill>
                  <a:srgbClr val="F8F8FC"/>
                </a:solidFill>
                <a:latin typeface="Segoe UI"/>
              </a:rPr>
              <a:t>• Merges all research outputs into a single forensic artifact</a:t>
            </a:r>
          </a:p>
        </p:txBody>
      </p:sp>
      <p:sp>
        <p:nvSpPr>
          <p:cNvPr id="36" name="TextBox 35"/>
          <p:cNvSpPr txBox="1"/>
          <p:nvPr/>
        </p:nvSpPr>
        <p:spPr>
          <a:xfrm>
            <a:off x="6415428" y="3345867"/>
            <a:ext cx="2339035" cy="320040"/>
          </a:xfrm>
          <a:prstGeom prst="rect">
            <a:avLst/>
          </a:prstGeom>
          <a:noFill/>
        </p:spPr>
        <p:txBody>
          <a:bodyPr wrap="square">
            <a:spAutoFit/>
          </a:bodyPr>
          <a:lstStyle/>
          <a:p>
            <a:r>
              <a:rPr sz="1400" b="0" i="0" dirty="0">
                <a:solidFill>
                  <a:srgbClr val="9CA3AF"/>
                </a:solidFill>
                <a:latin typeface="Segoe UI"/>
              </a:rPr>
              <a:t>• Evidence-only</a:t>
            </a:r>
          </a:p>
        </p:txBody>
      </p:sp>
      <p:sp>
        <p:nvSpPr>
          <p:cNvPr id="37" name="TextBox 36"/>
          <p:cNvSpPr txBox="1"/>
          <p:nvPr/>
        </p:nvSpPr>
        <p:spPr>
          <a:xfrm>
            <a:off x="6422079" y="3621023"/>
            <a:ext cx="2561900" cy="523220"/>
          </a:xfrm>
          <a:prstGeom prst="rect">
            <a:avLst/>
          </a:prstGeom>
          <a:noFill/>
        </p:spPr>
        <p:txBody>
          <a:bodyPr wrap="square">
            <a:spAutoFit/>
          </a:bodyPr>
          <a:lstStyle/>
          <a:p>
            <a:r>
              <a:rPr sz="1400" b="0" i="0" dirty="0">
                <a:solidFill>
                  <a:srgbClr val="9CA3AF"/>
                </a:solidFill>
                <a:latin typeface="Segoe UI"/>
              </a:rPr>
              <a:t>• No recommendations included</a:t>
            </a:r>
          </a:p>
        </p:txBody>
      </p:sp>
      <p:sp>
        <p:nvSpPr>
          <p:cNvPr id="38" name="TextBox 37"/>
          <p:cNvSpPr txBox="1"/>
          <p:nvPr/>
        </p:nvSpPr>
        <p:spPr>
          <a:xfrm>
            <a:off x="6422079" y="4171336"/>
            <a:ext cx="2339035" cy="320040"/>
          </a:xfrm>
          <a:prstGeom prst="rect">
            <a:avLst/>
          </a:prstGeom>
          <a:noFill/>
        </p:spPr>
        <p:txBody>
          <a:bodyPr wrap="square">
            <a:spAutoFit/>
          </a:bodyPr>
          <a:lstStyle/>
          <a:p>
            <a:r>
              <a:rPr sz="1400" b="0" i="0" dirty="0">
                <a:solidFill>
                  <a:srgbClr val="9CA3AF"/>
                </a:solidFill>
                <a:latin typeface="Segoe UI"/>
              </a:rPr>
              <a:t>• Single source of truth for planning</a:t>
            </a:r>
          </a:p>
        </p:txBody>
      </p:sp>
      <p:sp>
        <p:nvSpPr>
          <p:cNvPr id="39" name="Rounded Rectangle 38"/>
          <p:cNvSpPr/>
          <p:nvPr/>
        </p:nvSpPr>
        <p:spPr>
          <a:xfrm>
            <a:off x="9121140" y="2322576"/>
            <a:ext cx="2704795" cy="3265424"/>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258300" y="1901952"/>
            <a:ext cx="243047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04019" y="1993392"/>
            <a:ext cx="2339035" cy="365760"/>
          </a:xfrm>
          <a:prstGeom prst="rect">
            <a:avLst/>
          </a:prstGeom>
          <a:noFill/>
        </p:spPr>
        <p:txBody>
          <a:bodyPr wrap="square">
            <a:spAutoFit/>
          </a:bodyPr>
          <a:lstStyle/>
          <a:p>
            <a:r>
              <a:rPr sz="1200" b="1" i="0">
                <a:solidFill>
                  <a:srgbClr val="F8F8FC"/>
                </a:solidFill>
                <a:latin typeface="Segoe UI"/>
              </a:rPr>
              <a:t>PHASE 4</a:t>
            </a:r>
          </a:p>
        </p:txBody>
      </p:sp>
      <p:sp>
        <p:nvSpPr>
          <p:cNvPr id="42" name="TextBox 41"/>
          <p:cNvSpPr txBox="1"/>
          <p:nvPr/>
        </p:nvSpPr>
        <p:spPr>
          <a:xfrm>
            <a:off x="9304019" y="2450591"/>
            <a:ext cx="2339035" cy="320040"/>
          </a:xfrm>
          <a:prstGeom prst="rect">
            <a:avLst/>
          </a:prstGeom>
          <a:noFill/>
        </p:spPr>
        <p:txBody>
          <a:bodyPr wrap="square">
            <a:spAutoFit/>
          </a:bodyPr>
          <a:lstStyle/>
          <a:p>
            <a:r>
              <a:rPr sz="1400" b="0" i="0">
                <a:solidFill>
                  <a:srgbClr val="10B981"/>
                </a:solidFill>
                <a:latin typeface="Segoe UI"/>
              </a:rPr>
              <a:t>• Planner prompts 0–3</a:t>
            </a:r>
          </a:p>
        </p:txBody>
      </p:sp>
      <p:sp>
        <p:nvSpPr>
          <p:cNvPr id="43" name="TextBox 42"/>
          <p:cNvSpPr txBox="1"/>
          <p:nvPr/>
        </p:nvSpPr>
        <p:spPr>
          <a:xfrm>
            <a:off x="9304019" y="2770632"/>
            <a:ext cx="2339035" cy="320040"/>
          </a:xfrm>
          <a:prstGeom prst="rect">
            <a:avLst/>
          </a:prstGeom>
          <a:noFill/>
        </p:spPr>
        <p:txBody>
          <a:bodyPr wrap="square">
            <a:spAutoFit/>
          </a:bodyPr>
          <a:lstStyle/>
          <a:p>
            <a:r>
              <a:rPr sz="1400" b="0" i="0">
                <a:solidFill>
                  <a:srgbClr val="F8F8FC"/>
                </a:solidFill>
                <a:latin typeface="Segoe UI"/>
              </a:rPr>
              <a:t>• Generates Master Report</a:t>
            </a:r>
          </a:p>
        </p:txBody>
      </p:sp>
      <p:sp>
        <p:nvSpPr>
          <p:cNvPr id="44" name="TextBox 43"/>
          <p:cNvSpPr txBox="1"/>
          <p:nvPr/>
        </p:nvSpPr>
        <p:spPr>
          <a:xfrm>
            <a:off x="9304019" y="3090672"/>
            <a:ext cx="2339035" cy="320040"/>
          </a:xfrm>
          <a:prstGeom prst="rect">
            <a:avLst/>
          </a:prstGeom>
          <a:noFill/>
        </p:spPr>
        <p:txBody>
          <a:bodyPr wrap="square">
            <a:spAutoFit/>
          </a:bodyPr>
          <a:lstStyle/>
          <a:p>
            <a:r>
              <a:rPr sz="1400" b="0" i="0">
                <a:solidFill>
                  <a:srgbClr val="9CA3AF"/>
                </a:solidFill>
                <a:latin typeface="Segoe UI"/>
              </a:rPr>
              <a:t>• Developer Guide with before/after fixes</a:t>
            </a:r>
          </a:p>
        </p:txBody>
      </p:sp>
      <p:sp>
        <p:nvSpPr>
          <p:cNvPr id="45" name="TextBox 44"/>
          <p:cNvSpPr txBox="1"/>
          <p:nvPr/>
        </p:nvSpPr>
        <p:spPr>
          <a:xfrm>
            <a:off x="9311372" y="3619668"/>
            <a:ext cx="2339035" cy="320040"/>
          </a:xfrm>
          <a:prstGeom prst="rect">
            <a:avLst/>
          </a:prstGeom>
          <a:noFill/>
        </p:spPr>
        <p:txBody>
          <a:bodyPr wrap="square">
            <a:spAutoFit/>
          </a:bodyPr>
          <a:lstStyle/>
          <a:p>
            <a:r>
              <a:rPr sz="1400" b="0" i="0" dirty="0">
                <a:solidFill>
                  <a:srgbClr val="9CA3AF"/>
                </a:solidFill>
                <a:latin typeface="Segoe UI"/>
              </a:rPr>
              <a:t>• Code-Level Assessment</a:t>
            </a:r>
          </a:p>
        </p:txBody>
      </p:sp>
      <p:sp>
        <p:nvSpPr>
          <p:cNvPr id="46" name="TextBox 45"/>
          <p:cNvSpPr txBox="1"/>
          <p:nvPr/>
        </p:nvSpPr>
        <p:spPr>
          <a:xfrm>
            <a:off x="9304019" y="4011316"/>
            <a:ext cx="2339035" cy="320040"/>
          </a:xfrm>
          <a:prstGeom prst="rect">
            <a:avLst/>
          </a:prstGeom>
          <a:noFill/>
        </p:spPr>
        <p:txBody>
          <a:bodyPr wrap="square">
            <a:spAutoFit/>
          </a:bodyPr>
          <a:lstStyle/>
          <a:p>
            <a:r>
              <a:rPr sz="1400" b="0" i="0" dirty="0">
                <a:solidFill>
                  <a:srgbClr val="9CA3AF"/>
                </a:solidFill>
                <a:latin typeface="Segoe UI"/>
              </a:rPr>
              <a:t>• WAF alignment applied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Evidence-Only Research: The Key Design Decision</a:t>
            </a:r>
          </a:p>
        </p:txBody>
      </p:sp>
      <p:sp>
        <p:nvSpPr>
          <p:cNvPr id="4" name="Rounded Rectangle 3"/>
          <p:cNvSpPr/>
          <p:nvPr/>
        </p:nvSpPr>
        <p:spPr>
          <a:xfrm>
            <a:off x="457200" y="1298448"/>
            <a:ext cx="5486400" cy="274929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521208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5120640" cy="365760"/>
          </a:xfrm>
          <a:prstGeom prst="rect">
            <a:avLst/>
          </a:prstGeom>
          <a:noFill/>
        </p:spPr>
        <p:txBody>
          <a:bodyPr wrap="square">
            <a:spAutoFit/>
          </a:bodyPr>
          <a:lstStyle/>
          <a:p>
            <a:r>
              <a:rPr sz="1300" b="1" i="0">
                <a:solidFill>
                  <a:srgbClr val="F8F8FC"/>
                </a:solidFill>
                <a:latin typeface="Segoe UI"/>
              </a:rPr>
              <a:t>RESEARCH PHASES 1–3 RULES</a:t>
            </a:r>
          </a:p>
        </p:txBody>
      </p:sp>
      <p:sp>
        <p:nvSpPr>
          <p:cNvPr id="7" name="TextBox 6"/>
          <p:cNvSpPr txBox="1"/>
          <p:nvPr/>
        </p:nvSpPr>
        <p:spPr>
          <a:xfrm>
            <a:off x="640080" y="1444752"/>
            <a:ext cx="5120640" cy="320040"/>
          </a:xfrm>
          <a:prstGeom prst="rect">
            <a:avLst/>
          </a:prstGeom>
          <a:noFill/>
        </p:spPr>
        <p:txBody>
          <a:bodyPr wrap="square">
            <a:spAutoFit/>
          </a:bodyPr>
          <a:lstStyle/>
          <a:p>
            <a:r>
              <a:rPr sz="1400" b="0" i="0">
                <a:solidFill>
                  <a:srgbClr val="F8F8FC"/>
                </a:solidFill>
                <a:latin typeface="Segoe UI"/>
              </a:rPr>
              <a:t>• No recommendations allowed</a:t>
            </a:r>
          </a:p>
        </p:txBody>
      </p:sp>
      <p:sp>
        <p:nvSpPr>
          <p:cNvPr id="8" name="TextBox 7"/>
          <p:cNvSpPr txBox="1"/>
          <p:nvPr/>
        </p:nvSpPr>
        <p:spPr>
          <a:xfrm>
            <a:off x="640080" y="1764791"/>
            <a:ext cx="5120640" cy="320040"/>
          </a:xfrm>
          <a:prstGeom prst="rect">
            <a:avLst/>
          </a:prstGeom>
          <a:noFill/>
        </p:spPr>
        <p:txBody>
          <a:bodyPr wrap="square">
            <a:spAutoFit/>
          </a:bodyPr>
          <a:lstStyle/>
          <a:p>
            <a:r>
              <a:rPr sz="1400" b="0" i="0">
                <a:solidFill>
                  <a:srgbClr val="9CA3AF"/>
                </a:solidFill>
                <a:latin typeface="Segoe UI"/>
              </a:rPr>
              <a:t>• No code examples</a:t>
            </a:r>
          </a:p>
        </p:txBody>
      </p:sp>
      <p:sp>
        <p:nvSpPr>
          <p:cNvPr id="9" name="TextBox 8"/>
          <p:cNvSpPr txBox="1"/>
          <p:nvPr/>
        </p:nvSpPr>
        <p:spPr>
          <a:xfrm>
            <a:off x="640080" y="2084831"/>
            <a:ext cx="5120640" cy="320040"/>
          </a:xfrm>
          <a:prstGeom prst="rect">
            <a:avLst/>
          </a:prstGeom>
          <a:noFill/>
        </p:spPr>
        <p:txBody>
          <a:bodyPr wrap="square">
            <a:spAutoFit/>
          </a:bodyPr>
          <a:lstStyle/>
          <a:p>
            <a:r>
              <a:rPr sz="1400" b="0" i="0">
                <a:solidFill>
                  <a:srgbClr val="F8F8FC"/>
                </a:solidFill>
                <a:latin typeface="Segoe UI"/>
              </a:rPr>
              <a:t>• Every finding requires: file path + line number</a:t>
            </a:r>
          </a:p>
        </p:txBody>
      </p:sp>
      <p:sp>
        <p:nvSpPr>
          <p:cNvPr id="10" name="TextBox 9"/>
          <p:cNvSpPr txBox="1"/>
          <p:nvPr/>
        </p:nvSpPr>
        <p:spPr>
          <a:xfrm>
            <a:off x="640080" y="2404872"/>
            <a:ext cx="5120640" cy="320040"/>
          </a:xfrm>
          <a:prstGeom prst="rect">
            <a:avLst/>
          </a:prstGeom>
          <a:noFill/>
        </p:spPr>
        <p:txBody>
          <a:bodyPr wrap="square">
            <a:spAutoFit/>
          </a:bodyPr>
          <a:lstStyle/>
          <a:p>
            <a:r>
              <a:rPr sz="1400" b="0" i="0">
                <a:solidFill>
                  <a:srgbClr val="9CA3AF"/>
                </a:solidFill>
                <a:latin typeface="Segoe UI"/>
              </a:rPr>
              <a:t>• Priority classification: P0 / P1 / P2 / P3</a:t>
            </a:r>
          </a:p>
        </p:txBody>
      </p:sp>
      <p:sp>
        <p:nvSpPr>
          <p:cNvPr id="11" name="TextBox 10"/>
          <p:cNvSpPr txBox="1"/>
          <p:nvPr/>
        </p:nvSpPr>
        <p:spPr>
          <a:xfrm>
            <a:off x="640080" y="2724912"/>
            <a:ext cx="5120640" cy="320040"/>
          </a:xfrm>
          <a:prstGeom prst="rect">
            <a:avLst/>
          </a:prstGeom>
          <a:noFill/>
        </p:spPr>
        <p:txBody>
          <a:bodyPr wrap="square">
            <a:spAutoFit/>
          </a:bodyPr>
          <a:lstStyle/>
          <a:p>
            <a:r>
              <a:rPr sz="1400" b="0" i="0">
                <a:solidFill>
                  <a:srgbClr val="9CA3AF"/>
                </a:solidFill>
                <a:latin typeface="Segoe UI"/>
              </a:rPr>
              <a:t>• Existing mitigations captured with evidence</a:t>
            </a:r>
          </a:p>
        </p:txBody>
      </p:sp>
      <p:sp>
        <p:nvSpPr>
          <p:cNvPr id="12" name="TextBox 11"/>
          <p:cNvSpPr txBox="1"/>
          <p:nvPr/>
        </p:nvSpPr>
        <p:spPr>
          <a:xfrm>
            <a:off x="640080" y="3044952"/>
            <a:ext cx="5120640" cy="320040"/>
          </a:xfrm>
          <a:prstGeom prst="rect">
            <a:avLst/>
          </a:prstGeom>
          <a:noFill/>
        </p:spPr>
        <p:txBody>
          <a:bodyPr wrap="square">
            <a:spAutoFit/>
          </a:bodyPr>
          <a:lstStyle/>
          <a:p>
            <a:r>
              <a:rPr sz="1400" b="0" i="0">
                <a:solidFill>
                  <a:srgbClr val="F8F8FC"/>
                </a:solidFill>
                <a:latin typeface="Segoe UI"/>
              </a:rPr>
              <a:t>• Service Exclusion Rule: only confirmed dependencies analyzed</a:t>
            </a:r>
          </a:p>
        </p:txBody>
      </p:sp>
      <p:sp>
        <p:nvSpPr>
          <p:cNvPr id="13" name="Rounded Rectangle 12"/>
          <p:cNvSpPr/>
          <p:nvPr/>
        </p:nvSpPr>
        <p:spPr>
          <a:xfrm>
            <a:off x="6248095" y="1298448"/>
            <a:ext cx="5486400" cy="276860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85255" y="896112"/>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0975" y="987552"/>
            <a:ext cx="5120640" cy="365760"/>
          </a:xfrm>
          <a:prstGeom prst="rect">
            <a:avLst/>
          </a:prstGeom>
          <a:noFill/>
        </p:spPr>
        <p:txBody>
          <a:bodyPr wrap="square">
            <a:spAutoFit/>
          </a:bodyPr>
          <a:lstStyle/>
          <a:p>
            <a:r>
              <a:rPr sz="1300" b="1" i="0">
                <a:solidFill>
                  <a:srgbClr val="F8F8FC"/>
                </a:solidFill>
                <a:latin typeface="Segoe UI"/>
              </a:rPr>
              <a:t>WHY THIS MATTERS</a:t>
            </a:r>
          </a:p>
        </p:txBody>
      </p:sp>
      <p:sp>
        <p:nvSpPr>
          <p:cNvPr id="16" name="TextBox 15"/>
          <p:cNvSpPr txBox="1"/>
          <p:nvPr/>
        </p:nvSpPr>
        <p:spPr>
          <a:xfrm>
            <a:off x="6430975" y="1444752"/>
            <a:ext cx="5120640" cy="320040"/>
          </a:xfrm>
          <a:prstGeom prst="rect">
            <a:avLst/>
          </a:prstGeom>
          <a:noFill/>
        </p:spPr>
        <p:txBody>
          <a:bodyPr wrap="square">
            <a:spAutoFit/>
          </a:bodyPr>
          <a:lstStyle/>
          <a:p>
            <a:r>
              <a:rPr sz="1400" b="0" i="0">
                <a:solidFill>
                  <a:srgbClr val="F8F8FC"/>
                </a:solidFill>
                <a:latin typeface="Segoe UI"/>
              </a:rPr>
              <a:t>• Eliminates hallucinated findings not backed by code</a:t>
            </a:r>
          </a:p>
        </p:txBody>
      </p:sp>
      <p:sp>
        <p:nvSpPr>
          <p:cNvPr id="17" name="TextBox 16"/>
          <p:cNvSpPr txBox="1"/>
          <p:nvPr/>
        </p:nvSpPr>
        <p:spPr>
          <a:xfrm>
            <a:off x="6430975" y="1764791"/>
            <a:ext cx="5120640" cy="320040"/>
          </a:xfrm>
          <a:prstGeom prst="rect">
            <a:avLst/>
          </a:prstGeom>
          <a:noFill/>
        </p:spPr>
        <p:txBody>
          <a:bodyPr wrap="square">
            <a:spAutoFit/>
          </a:bodyPr>
          <a:lstStyle/>
          <a:p>
            <a:r>
              <a:rPr sz="1400" b="0" i="0">
                <a:solidFill>
                  <a:srgbClr val="9CA3AF"/>
                </a:solidFill>
                <a:latin typeface="Segoe UI"/>
              </a:rPr>
              <a:t>• Separates what IS from what SHOULD BE</a:t>
            </a:r>
          </a:p>
        </p:txBody>
      </p:sp>
      <p:sp>
        <p:nvSpPr>
          <p:cNvPr id="18" name="TextBox 17"/>
          <p:cNvSpPr txBox="1"/>
          <p:nvPr/>
        </p:nvSpPr>
        <p:spPr>
          <a:xfrm>
            <a:off x="6430975" y="2084831"/>
            <a:ext cx="5120640" cy="320040"/>
          </a:xfrm>
          <a:prstGeom prst="rect">
            <a:avLst/>
          </a:prstGeom>
          <a:noFill/>
        </p:spPr>
        <p:txBody>
          <a:bodyPr wrap="square">
            <a:spAutoFit/>
          </a:bodyPr>
          <a:lstStyle/>
          <a:p>
            <a:r>
              <a:rPr sz="1400" b="0" i="0">
                <a:solidFill>
                  <a:srgbClr val="F8F8FC"/>
                </a:solidFill>
                <a:latin typeface="Segoe UI"/>
              </a:rPr>
              <a:t>• Planning phase cannot contradict research evidence</a:t>
            </a:r>
          </a:p>
        </p:txBody>
      </p:sp>
      <p:sp>
        <p:nvSpPr>
          <p:cNvPr id="19" name="TextBox 18"/>
          <p:cNvSpPr txBox="1"/>
          <p:nvPr/>
        </p:nvSpPr>
        <p:spPr>
          <a:xfrm>
            <a:off x="6430975" y="2404872"/>
            <a:ext cx="5120640" cy="320040"/>
          </a:xfrm>
          <a:prstGeom prst="rect">
            <a:avLst/>
          </a:prstGeom>
          <a:noFill/>
        </p:spPr>
        <p:txBody>
          <a:bodyPr wrap="square">
            <a:spAutoFit/>
          </a:bodyPr>
          <a:lstStyle/>
          <a:p>
            <a:r>
              <a:rPr sz="1400" b="0" i="0">
                <a:solidFill>
                  <a:srgbClr val="9CA3AF"/>
                </a:solidFill>
                <a:latin typeface="Segoe UI"/>
              </a:rPr>
              <a:t>• Findings survive code reviews and architecture boards</a:t>
            </a:r>
          </a:p>
        </p:txBody>
      </p:sp>
      <p:sp>
        <p:nvSpPr>
          <p:cNvPr id="20" name="TextBox 19"/>
          <p:cNvSpPr txBox="1"/>
          <p:nvPr/>
        </p:nvSpPr>
        <p:spPr>
          <a:xfrm>
            <a:off x="6430975" y="2724912"/>
            <a:ext cx="5120640" cy="320040"/>
          </a:xfrm>
          <a:prstGeom prst="rect">
            <a:avLst/>
          </a:prstGeom>
          <a:noFill/>
        </p:spPr>
        <p:txBody>
          <a:bodyPr wrap="square">
            <a:spAutoFit/>
          </a:bodyPr>
          <a:lstStyle/>
          <a:p>
            <a:r>
              <a:rPr sz="1400" b="0" i="0">
                <a:solidFill>
                  <a:srgbClr val="F8F8FC"/>
                </a:solidFill>
                <a:latin typeface="Segoe UI"/>
              </a:rPr>
              <a:t>• Teams trust the output because every claim is traceable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dirty="0">
                <a:solidFill>
                  <a:srgbClr val="F8F8FC"/>
                </a:solidFill>
                <a:latin typeface="Segoe UI"/>
              </a:rPr>
              <a:t>Three Deliverables Built for Three Audiences</a:t>
            </a:r>
          </a:p>
        </p:txBody>
      </p:sp>
      <p:sp>
        <p:nvSpPr>
          <p:cNvPr id="4" name="Rounded Rectangle 3"/>
          <p:cNvSpPr/>
          <p:nvPr/>
        </p:nvSpPr>
        <p:spPr>
          <a:xfrm>
            <a:off x="480060" y="1353312"/>
            <a:ext cx="3637483" cy="2470912"/>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896112"/>
            <a:ext cx="3363163"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987552"/>
            <a:ext cx="3271723" cy="365760"/>
          </a:xfrm>
          <a:prstGeom prst="rect">
            <a:avLst/>
          </a:prstGeom>
          <a:noFill/>
        </p:spPr>
        <p:txBody>
          <a:bodyPr wrap="square">
            <a:spAutoFit/>
          </a:bodyPr>
          <a:lstStyle/>
          <a:p>
            <a:r>
              <a:rPr sz="1400" b="1" i="0">
                <a:solidFill>
                  <a:srgbClr val="F8F8FC"/>
                </a:solidFill>
                <a:latin typeface="Segoe UI"/>
              </a:rPr>
              <a:t>MASTER REPORT</a:t>
            </a:r>
          </a:p>
        </p:txBody>
      </p:sp>
      <p:sp>
        <p:nvSpPr>
          <p:cNvPr id="7" name="TextBox 6"/>
          <p:cNvSpPr txBox="1"/>
          <p:nvPr/>
        </p:nvSpPr>
        <p:spPr>
          <a:xfrm>
            <a:off x="640080" y="1444752"/>
            <a:ext cx="3271723" cy="320040"/>
          </a:xfrm>
          <a:prstGeom prst="rect">
            <a:avLst/>
          </a:prstGeom>
          <a:noFill/>
        </p:spPr>
        <p:txBody>
          <a:bodyPr wrap="square">
            <a:spAutoFit/>
          </a:bodyPr>
          <a:lstStyle/>
          <a:p>
            <a:r>
              <a:rPr sz="1400" b="0" i="0">
                <a:solidFill>
                  <a:srgbClr val="0078D4"/>
                </a:solidFill>
                <a:latin typeface="Segoe UI"/>
              </a:rPr>
              <a:t>• Audience: Leadership / Architecture Board</a:t>
            </a:r>
          </a:p>
        </p:txBody>
      </p:sp>
      <p:sp>
        <p:nvSpPr>
          <p:cNvPr id="8" name="TextBox 7"/>
          <p:cNvSpPr txBox="1"/>
          <p:nvPr/>
        </p:nvSpPr>
        <p:spPr>
          <a:xfrm>
            <a:off x="640080" y="1856232"/>
            <a:ext cx="3271723" cy="320040"/>
          </a:xfrm>
          <a:prstGeom prst="rect">
            <a:avLst/>
          </a:prstGeom>
          <a:noFill/>
        </p:spPr>
        <p:txBody>
          <a:bodyPr wrap="square">
            <a:spAutoFit/>
          </a:bodyPr>
          <a:lstStyle/>
          <a:p>
            <a:r>
              <a:rPr sz="1400" b="0" i="0" dirty="0">
                <a:solidFill>
                  <a:srgbClr val="F8F8FC"/>
                </a:solidFill>
                <a:latin typeface="Segoe UI"/>
              </a:rPr>
              <a:t>• Executive summary and prioritized finding matrix</a:t>
            </a:r>
          </a:p>
        </p:txBody>
      </p:sp>
      <p:sp>
        <p:nvSpPr>
          <p:cNvPr id="9" name="TextBox 8"/>
          <p:cNvSpPr txBox="1"/>
          <p:nvPr/>
        </p:nvSpPr>
        <p:spPr>
          <a:xfrm>
            <a:off x="662939" y="2397589"/>
            <a:ext cx="3271723" cy="320040"/>
          </a:xfrm>
          <a:prstGeom prst="rect">
            <a:avLst/>
          </a:prstGeom>
          <a:noFill/>
        </p:spPr>
        <p:txBody>
          <a:bodyPr wrap="square">
            <a:spAutoFit/>
          </a:bodyPr>
          <a:lstStyle/>
          <a:p>
            <a:r>
              <a:rPr sz="1400" b="0" i="0" dirty="0">
                <a:solidFill>
                  <a:srgbClr val="9CA3AF"/>
                </a:solidFill>
                <a:latin typeface="Segoe UI"/>
              </a:rPr>
              <a:t>• Dependency map and open questions</a:t>
            </a:r>
          </a:p>
        </p:txBody>
      </p:sp>
      <p:sp>
        <p:nvSpPr>
          <p:cNvPr id="10" name="TextBox 9"/>
          <p:cNvSpPr txBox="1"/>
          <p:nvPr/>
        </p:nvSpPr>
        <p:spPr>
          <a:xfrm>
            <a:off x="640080" y="2816352"/>
            <a:ext cx="3271723" cy="320040"/>
          </a:xfrm>
          <a:prstGeom prst="rect">
            <a:avLst/>
          </a:prstGeom>
          <a:noFill/>
        </p:spPr>
        <p:txBody>
          <a:bodyPr wrap="square">
            <a:spAutoFit/>
          </a:bodyPr>
          <a:lstStyle/>
          <a:p>
            <a:r>
              <a:rPr sz="1400" b="0" i="0" dirty="0">
                <a:solidFill>
                  <a:srgbClr val="9CA3AF"/>
                </a:solidFill>
                <a:latin typeface="Segoe UI"/>
              </a:rPr>
              <a:t>• External provider considerations</a:t>
            </a:r>
          </a:p>
        </p:txBody>
      </p:sp>
      <p:sp>
        <p:nvSpPr>
          <p:cNvPr id="11" name="TextBox 10"/>
          <p:cNvSpPr txBox="1"/>
          <p:nvPr/>
        </p:nvSpPr>
        <p:spPr>
          <a:xfrm>
            <a:off x="640080" y="3154680"/>
            <a:ext cx="3271723" cy="320040"/>
          </a:xfrm>
          <a:prstGeom prst="rect">
            <a:avLst/>
          </a:prstGeom>
          <a:noFill/>
        </p:spPr>
        <p:txBody>
          <a:bodyPr wrap="square">
            <a:spAutoFit/>
          </a:bodyPr>
          <a:lstStyle/>
          <a:p>
            <a:r>
              <a:rPr sz="1400" b="0" i="0" dirty="0">
                <a:solidFill>
                  <a:srgbClr val="9CA3AF"/>
                </a:solidFill>
                <a:latin typeface="Segoe UI"/>
              </a:rPr>
              <a:t>• Format: P0→P3 with business impact language</a:t>
            </a:r>
          </a:p>
        </p:txBody>
      </p:sp>
      <p:sp>
        <p:nvSpPr>
          <p:cNvPr id="12" name="Rounded Rectangle 11"/>
          <p:cNvSpPr/>
          <p:nvPr/>
        </p:nvSpPr>
        <p:spPr>
          <a:xfrm>
            <a:off x="4277563" y="1389888"/>
            <a:ext cx="3637483" cy="243433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14723" y="896112"/>
            <a:ext cx="3363163"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0443" y="987552"/>
            <a:ext cx="3271723" cy="365760"/>
          </a:xfrm>
          <a:prstGeom prst="rect">
            <a:avLst/>
          </a:prstGeom>
          <a:noFill/>
        </p:spPr>
        <p:txBody>
          <a:bodyPr wrap="square">
            <a:spAutoFit/>
          </a:bodyPr>
          <a:lstStyle/>
          <a:p>
            <a:r>
              <a:rPr sz="1400" b="1" i="0">
                <a:solidFill>
                  <a:srgbClr val="F8F8FC"/>
                </a:solidFill>
                <a:latin typeface="Segoe UI"/>
              </a:rPr>
              <a:t>DEVELOPER GUIDE</a:t>
            </a:r>
          </a:p>
        </p:txBody>
      </p:sp>
      <p:sp>
        <p:nvSpPr>
          <p:cNvPr id="15" name="TextBox 14"/>
          <p:cNvSpPr txBox="1"/>
          <p:nvPr/>
        </p:nvSpPr>
        <p:spPr>
          <a:xfrm>
            <a:off x="4460443" y="1444752"/>
            <a:ext cx="3271723" cy="320040"/>
          </a:xfrm>
          <a:prstGeom prst="rect">
            <a:avLst/>
          </a:prstGeom>
          <a:noFill/>
        </p:spPr>
        <p:txBody>
          <a:bodyPr wrap="square">
            <a:spAutoFit/>
          </a:bodyPr>
          <a:lstStyle/>
          <a:p>
            <a:r>
              <a:rPr sz="1400" b="0" i="0">
                <a:solidFill>
                  <a:srgbClr val="10B981"/>
                </a:solidFill>
                <a:latin typeface="Segoe UI"/>
              </a:rPr>
              <a:t>• Audience: Engineering Teams</a:t>
            </a:r>
          </a:p>
        </p:txBody>
      </p:sp>
      <p:sp>
        <p:nvSpPr>
          <p:cNvPr id="16" name="TextBox 15"/>
          <p:cNvSpPr txBox="1"/>
          <p:nvPr/>
        </p:nvSpPr>
        <p:spPr>
          <a:xfrm>
            <a:off x="4460443" y="1764791"/>
            <a:ext cx="3271723" cy="320040"/>
          </a:xfrm>
          <a:prstGeom prst="rect">
            <a:avLst/>
          </a:prstGeom>
          <a:noFill/>
        </p:spPr>
        <p:txBody>
          <a:bodyPr wrap="square">
            <a:spAutoFit/>
          </a:bodyPr>
          <a:lstStyle/>
          <a:p>
            <a:r>
              <a:rPr sz="1400" b="0" i="0">
                <a:solidFill>
                  <a:srgbClr val="F8F8FC"/>
                </a:solidFill>
                <a:latin typeface="Segoe UI"/>
              </a:rPr>
              <a:t>• File+line evidence for every finding</a:t>
            </a:r>
          </a:p>
        </p:txBody>
      </p:sp>
      <p:sp>
        <p:nvSpPr>
          <p:cNvPr id="17" name="TextBox 16"/>
          <p:cNvSpPr txBox="1"/>
          <p:nvPr/>
        </p:nvSpPr>
        <p:spPr>
          <a:xfrm>
            <a:off x="4460443" y="2084831"/>
            <a:ext cx="3271723" cy="320040"/>
          </a:xfrm>
          <a:prstGeom prst="rect">
            <a:avLst/>
          </a:prstGeom>
          <a:noFill/>
        </p:spPr>
        <p:txBody>
          <a:bodyPr wrap="square">
            <a:spAutoFit/>
          </a:bodyPr>
          <a:lstStyle/>
          <a:p>
            <a:r>
              <a:rPr sz="1400" b="0" i="0">
                <a:solidFill>
                  <a:srgbClr val="9CA3AF"/>
                </a:solidFill>
                <a:latin typeface="Segoe UI"/>
              </a:rPr>
              <a:t>• Current code blocks and fix code blocks</a:t>
            </a:r>
          </a:p>
        </p:txBody>
      </p:sp>
      <p:sp>
        <p:nvSpPr>
          <p:cNvPr id="18" name="TextBox 17"/>
          <p:cNvSpPr txBox="1"/>
          <p:nvPr/>
        </p:nvSpPr>
        <p:spPr>
          <a:xfrm>
            <a:off x="4471873" y="2574036"/>
            <a:ext cx="3271723" cy="320040"/>
          </a:xfrm>
          <a:prstGeom prst="rect">
            <a:avLst/>
          </a:prstGeom>
          <a:noFill/>
        </p:spPr>
        <p:txBody>
          <a:bodyPr wrap="square">
            <a:spAutoFit/>
          </a:bodyPr>
          <a:lstStyle/>
          <a:p>
            <a:r>
              <a:rPr sz="1400" b="0" i="0" dirty="0">
                <a:solidFill>
                  <a:srgbClr val="9CA3AF"/>
                </a:solidFill>
                <a:latin typeface="Segoe UI"/>
              </a:rPr>
              <a:t>• Health probe contracts and testing notes</a:t>
            </a:r>
          </a:p>
        </p:txBody>
      </p:sp>
      <p:sp>
        <p:nvSpPr>
          <p:cNvPr id="19" name="TextBox 18"/>
          <p:cNvSpPr txBox="1"/>
          <p:nvPr/>
        </p:nvSpPr>
        <p:spPr>
          <a:xfrm>
            <a:off x="4460443" y="2976372"/>
            <a:ext cx="3271723" cy="320040"/>
          </a:xfrm>
          <a:prstGeom prst="rect">
            <a:avLst/>
          </a:prstGeom>
          <a:noFill/>
        </p:spPr>
        <p:txBody>
          <a:bodyPr wrap="square">
            <a:spAutoFit/>
          </a:bodyPr>
          <a:lstStyle/>
          <a:p>
            <a:r>
              <a:rPr sz="1400" b="0" i="0" dirty="0">
                <a:solidFill>
                  <a:srgbClr val="9CA3AF"/>
                </a:solidFill>
                <a:latin typeface="Segoe UI"/>
              </a:rPr>
              <a:t>• Format: Self-contained — no architect needed to interpret</a:t>
            </a:r>
          </a:p>
        </p:txBody>
      </p:sp>
      <p:sp>
        <p:nvSpPr>
          <p:cNvPr id="20" name="Rounded Rectangle 19"/>
          <p:cNvSpPr/>
          <p:nvPr/>
        </p:nvSpPr>
        <p:spPr>
          <a:xfrm>
            <a:off x="8097926" y="1298448"/>
            <a:ext cx="3637483" cy="2525776"/>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35086" y="896112"/>
            <a:ext cx="3363163"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80806" y="987552"/>
            <a:ext cx="3271723" cy="365760"/>
          </a:xfrm>
          <a:prstGeom prst="rect">
            <a:avLst/>
          </a:prstGeom>
          <a:noFill/>
        </p:spPr>
        <p:txBody>
          <a:bodyPr wrap="square">
            <a:spAutoFit/>
          </a:bodyPr>
          <a:lstStyle/>
          <a:p>
            <a:r>
              <a:rPr sz="1400" b="1" i="0">
                <a:solidFill>
                  <a:srgbClr val="F8F8FC"/>
                </a:solidFill>
                <a:latin typeface="Segoe UI"/>
              </a:rPr>
              <a:t>CODE-LEVEL ASSESSMENT</a:t>
            </a:r>
          </a:p>
        </p:txBody>
      </p:sp>
      <p:sp>
        <p:nvSpPr>
          <p:cNvPr id="23" name="TextBox 22"/>
          <p:cNvSpPr txBox="1"/>
          <p:nvPr/>
        </p:nvSpPr>
        <p:spPr>
          <a:xfrm>
            <a:off x="8280806" y="1444752"/>
            <a:ext cx="3271723" cy="320040"/>
          </a:xfrm>
          <a:prstGeom prst="rect">
            <a:avLst/>
          </a:prstGeom>
          <a:noFill/>
        </p:spPr>
        <p:txBody>
          <a:bodyPr wrap="square">
            <a:spAutoFit/>
          </a:bodyPr>
          <a:lstStyle/>
          <a:p>
            <a:r>
              <a:rPr sz="1400" b="0" i="0">
                <a:solidFill>
                  <a:srgbClr val="F59E0B"/>
                </a:solidFill>
                <a:latin typeface="Segoe UI"/>
              </a:rPr>
              <a:t>• Audience: Architect Review Board</a:t>
            </a:r>
          </a:p>
        </p:txBody>
      </p:sp>
      <p:sp>
        <p:nvSpPr>
          <p:cNvPr id="24" name="TextBox 23"/>
          <p:cNvSpPr txBox="1"/>
          <p:nvPr/>
        </p:nvSpPr>
        <p:spPr>
          <a:xfrm>
            <a:off x="8280806" y="1764791"/>
            <a:ext cx="3271723" cy="320040"/>
          </a:xfrm>
          <a:prstGeom prst="rect">
            <a:avLst/>
          </a:prstGeom>
          <a:noFill/>
        </p:spPr>
        <p:txBody>
          <a:bodyPr wrap="square">
            <a:spAutoFit/>
          </a:bodyPr>
          <a:lstStyle/>
          <a:p>
            <a:r>
              <a:rPr sz="1400" b="0" i="0">
                <a:solidFill>
                  <a:srgbClr val="F8F8FC"/>
                </a:solidFill>
                <a:latin typeface="Segoe UI"/>
              </a:rPr>
              <a:t>• WAF alignment and IaC gap analysis</a:t>
            </a:r>
          </a:p>
        </p:txBody>
      </p:sp>
      <p:sp>
        <p:nvSpPr>
          <p:cNvPr id="25" name="TextBox 24"/>
          <p:cNvSpPr txBox="1"/>
          <p:nvPr/>
        </p:nvSpPr>
        <p:spPr>
          <a:xfrm>
            <a:off x="8280806" y="2084831"/>
            <a:ext cx="3271723" cy="320040"/>
          </a:xfrm>
          <a:prstGeom prst="rect">
            <a:avLst/>
          </a:prstGeom>
          <a:noFill/>
        </p:spPr>
        <p:txBody>
          <a:bodyPr wrap="square">
            <a:spAutoFit/>
          </a:bodyPr>
          <a:lstStyle/>
          <a:p>
            <a:r>
              <a:rPr sz="1400" b="0" i="0">
                <a:solidFill>
                  <a:srgbClr val="9CA3AF"/>
                </a:solidFill>
                <a:latin typeface="Segoe UI"/>
              </a:rPr>
              <a:t>• Full finding matrix with standards references</a:t>
            </a:r>
          </a:p>
        </p:txBody>
      </p:sp>
      <p:sp>
        <p:nvSpPr>
          <p:cNvPr id="26" name="TextBox 25"/>
          <p:cNvSpPr txBox="1"/>
          <p:nvPr/>
        </p:nvSpPr>
        <p:spPr>
          <a:xfrm>
            <a:off x="8326526" y="2587751"/>
            <a:ext cx="3271723" cy="320040"/>
          </a:xfrm>
          <a:prstGeom prst="rect">
            <a:avLst/>
          </a:prstGeom>
          <a:noFill/>
        </p:spPr>
        <p:txBody>
          <a:bodyPr wrap="square">
            <a:spAutoFit/>
          </a:bodyPr>
          <a:lstStyle/>
          <a:p>
            <a:r>
              <a:rPr sz="1400" b="0" i="0" dirty="0">
                <a:solidFill>
                  <a:srgbClr val="9CA3AF"/>
                </a:solidFill>
                <a:latin typeface="Segoe UI"/>
              </a:rPr>
              <a:t>• Microsoft Standards and reference architecture links</a:t>
            </a:r>
          </a:p>
        </p:txBody>
      </p:sp>
      <p:sp>
        <p:nvSpPr>
          <p:cNvPr id="27" name="TextBox 26"/>
          <p:cNvSpPr txBox="1"/>
          <p:nvPr/>
        </p:nvSpPr>
        <p:spPr>
          <a:xfrm>
            <a:off x="8280806" y="3090672"/>
            <a:ext cx="3271723" cy="320040"/>
          </a:xfrm>
          <a:prstGeom prst="rect">
            <a:avLst/>
          </a:prstGeom>
          <a:noFill/>
        </p:spPr>
        <p:txBody>
          <a:bodyPr wrap="square">
            <a:spAutoFit/>
          </a:bodyPr>
          <a:lstStyle/>
          <a:p>
            <a:r>
              <a:rPr sz="1400" b="0" i="0" dirty="0">
                <a:solidFill>
                  <a:srgbClr val="9CA3AF"/>
                </a:solidFill>
                <a:latin typeface="Segoe UI"/>
              </a:rPr>
              <a:t>• Format: Review-board ready, TOC-navigable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The Automation Story: What Changed</a:t>
            </a:r>
          </a:p>
        </p:txBody>
      </p:sp>
      <p:graphicFrame>
        <p:nvGraphicFramePr>
          <p:cNvPr id="4" name="Table 3"/>
          <p:cNvGraphicFramePr>
            <a:graphicFrameLocks noGrp="1"/>
          </p:cNvGraphicFramePr>
          <p:nvPr/>
        </p:nvGraphicFramePr>
        <p:xfrm>
          <a:off x="457200" y="804672"/>
          <a:ext cx="11277295" cy="576072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822960">
                <a:tc>
                  <a:txBody>
                    <a:bodyPr/>
                    <a:lstStyle/>
                    <a:p>
                      <a:r>
                        <a:rPr sz="1300" b="1">
                          <a:solidFill>
                            <a:srgbClr val="F8F8FC"/>
                          </a:solidFill>
                        </a:rPr>
                        <a:t>Dimension</a:t>
                      </a:r>
                    </a:p>
                  </a:txBody>
                  <a:tcPr>
                    <a:solidFill>
                      <a:srgbClr val="0078D4"/>
                    </a:solidFill>
                  </a:tcPr>
                </a:tc>
                <a:tc>
                  <a:txBody>
                    <a:bodyPr/>
                    <a:lstStyle/>
                    <a:p>
                      <a:r>
                        <a:rPr sz="1300" b="1">
                          <a:solidFill>
                            <a:srgbClr val="F8F8FC"/>
                          </a:solidFill>
                        </a:rPr>
                        <a:t>Before (Manual)</a:t>
                      </a:r>
                    </a:p>
                  </a:txBody>
                  <a:tcPr>
                    <a:solidFill>
                      <a:srgbClr val="0078D4"/>
                    </a:solidFill>
                  </a:tcPr>
                </a:tc>
                <a:tc>
                  <a:txBody>
                    <a:bodyPr/>
                    <a:lstStyle/>
                    <a:p>
                      <a:r>
                        <a:rPr sz="1300" b="1">
                          <a:solidFill>
                            <a:srgbClr val="F8F8FC"/>
                          </a:solidFill>
                        </a:rPr>
                        <a:t>After (Skill)</a:t>
                      </a:r>
                    </a:p>
                  </a:txBody>
                  <a:tcPr>
                    <a:solidFill>
                      <a:srgbClr val="0078D4"/>
                    </a:solidFill>
                  </a:tcPr>
                </a:tc>
                <a:extLst>
                  <a:ext uri="{0D108BD9-81ED-4DB2-BD59-A6C34878D82A}">
                    <a16:rowId xmlns:a16="http://schemas.microsoft.com/office/drawing/2014/main" val="10000"/>
                  </a:ext>
                </a:extLst>
              </a:tr>
              <a:tr h="822960">
                <a:tc>
                  <a:txBody>
                    <a:bodyPr/>
                    <a:lstStyle/>
                    <a:p>
                      <a:r>
                        <a:rPr b="1">
                          <a:solidFill>
                            <a:srgbClr val="F8F8FC"/>
                          </a:solidFill>
                        </a:rPr>
                        <a:t>Time to complete</a:t>
                      </a:r>
                    </a:p>
                  </a:txBody>
                  <a:tcPr>
                    <a:solidFill>
                      <a:srgbClr val="1A1D27"/>
                    </a:solidFill>
                  </a:tcPr>
                </a:tc>
                <a:tc>
                  <a:txBody>
                    <a:bodyPr/>
                    <a:lstStyle/>
                    <a:p>
                      <a:r>
                        <a:rPr>
                          <a:solidFill>
                            <a:srgbClr val="EF4444"/>
                          </a:solidFill>
                        </a:rPr>
                        <a:t>3–4 weeks (senior architect)</a:t>
                      </a:r>
                    </a:p>
                  </a:txBody>
                  <a:tcPr>
                    <a:solidFill>
                      <a:srgbClr val="1A1D27"/>
                    </a:solidFill>
                  </a:tcPr>
                </a:tc>
                <a:tc>
                  <a:txBody>
                    <a:bodyPr/>
                    <a:lstStyle/>
                    <a:p>
                      <a:r>
                        <a:rPr>
                          <a:solidFill>
                            <a:srgbClr val="10B981"/>
                          </a:solidFill>
                        </a:rPr>
                        <a:t>~1 hour (any engineer)</a:t>
                      </a:r>
                    </a:p>
                  </a:txBody>
                  <a:tcPr>
                    <a:solidFill>
                      <a:srgbClr val="1A1D27"/>
                    </a:solidFill>
                  </a:tcPr>
                </a:tc>
                <a:extLst>
                  <a:ext uri="{0D108BD9-81ED-4DB2-BD59-A6C34878D82A}">
                    <a16:rowId xmlns:a16="http://schemas.microsoft.com/office/drawing/2014/main" val="10001"/>
                  </a:ext>
                </a:extLst>
              </a:tr>
              <a:tr h="822960">
                <a:tc>
                  <a:txBody>
                    <a:bodyPr/>
                    <a:lstStyle/>
                    <a:p>
                      <a:r>
                        <a:rPr b="1">
                          <a:solidFill>
                            <a:srgbClr val="F8F8FC"/>
                          </a:solidFill>
                        </a:rPr>
                        <a:t>Evidence quality</a:t>
                      </a:r>
                    </a:p>
                  </a:txBody>
                  <a:tcPr>
                    <a:solidFill>
                      <a:srgbClr val="12141C"/>
                    </a:solidFill>
                  </a:tcPr>
                </a:tc>
                <a:tc>
                  <a:txBody>
                    <a:bodyPr/>
                    <a:lstStyle/>
                    <a:p>
                      <a:r>
                        <a:rPr>
                          <a:solidFill>
                            <a:srgbClr val="F59E0B"/>
                          </a:solidFill>
                        </a:rPr>
                        <a:t>Varies by reviewer</a:t>
                      </a:r>
                    </a:p>
                  </a:txBody>
                  <a:tcPr>
                    <a:solidFill>
                      <a:srgbClr val="12141C"/>
                    </a:solidFill>
                  </a:tcPr>
                </a:tc>
                <a:tc>
                  <a:txBody>
                    <a:bodyPr/>
                    <a:lstStyle/>
                    <a:p>
                      <a:r>
                        <a:rPr>
                          <a:solidFill>
                            <a:srgbClr val="10B981"/>
                          </a:solidFill>
                        </a:rPr>
                        <a:t>100% file+line cited</a:t>
                      </a:r>
                    </a:p>
                  </a:txBody>
                  <a:tcPr>
                    <a:solidFill>
                      <a:srgbClr val="12141C"/>
                    </a:solidFill>
                  </a:tcPr>
                </a:tc>
                <a:extLst>
                  <a:ext uri="{0D108BD9-81ED-4DB2-BD59-A6C34878D82A}">
                    <a16:rowId xmlns:a16="http://schemas.microsoft.com/office/drawing/2014/main" val="10002"/>
                  </a:ext>
                </a:extLst>
              </a:tr>
              <a:tr h="822960">
                <a:tc>
                  <a:txBody>
                    <a:bodyPr/>
                    <a:lstStyle/>
                    <a:p>
                      <a:r>
                        <a:rPr b="1">
                          <a:solidFill>
                            <a:srgbClr val="F8F8FC"/>
                          </a:solidFill>
                        </a:rPr>
                        <a:t>Finding consistency</a:t>
                      </a:r>
                    </a:p>
                  </a:txBody>
                  <a:tcPr>
                    <a:solidFill>
                      <a:srgbClr val="1A1D27"/>
                    </a:solidFill>
                  </a:tcPr>
                </a:tc>
                <a:tc>
                  <a:txBody>
                    <a:bodyPr/>
                    <a:lstStyle/>
                    <a:p>
                      <a:r>
                        <a:rPr>
                          <a:solidFill>
                            <a:srgbClr val="EF4444"/>
                          </a:solidFill>
                        </a:rPr>
                        <a:t>Prose, no standard format</a:t>
                      </a:r>
                    </a:p>
                  </a:txBody>
                  <a:tcPr>
                    <a:solidFill>
                      <a:srgbClr val="1A1D27"/>
                    </a:solidFill>
                  </a:tcPr>
                </a:tc>
                <a:tc>
                  <a:txBody>
                    <a:bodyPr/>
                    <a:lstStyle/>
                    <a:p>
                      <a:r>
                        <a:rPr>
                          <a:solidFill>
                            <a:srgbClr val="10B981"/>
                          </a:solidFill>
                        </a:rPr>
                        <a:t>P0→P3, structured JSON-ready</a:t>
                      </a:r>
                    </a:p>
                  </a:txBody>
                  <a:tcPr>
                    <a:solidFill>
                      <a:srgbClr val="1A1D27"/>
                    </a:solidFill>
                  </a:tcPr>
                </a:tc>
                <a:extLst>
                  <a:ext uri="{0D108BD9-81ED-4DB2-BD59-A6C34878D82A}">
                    <a16:rowId xmlns:a16="http://schemas.microsoft.com/office/drawing/2014/main" val="10003"/>
                  </a:ext>
                </a:extLst>
              </a:tr>
              <a:tr h="822960">
                <a:tc>
                  <a:txBody>
                    <a:bodyPr/>
                    <a:lstStyle/>
                    <a:p>
                      <a:r>
                        <a:rPr b="1">
                          <a:solidFill>
                            <a:srgbClr val="F8F8FC"/>
                          </a:solidFill>
                        </a:rPr>
                        <a:t>Output artifacts</a:t>
                      </a:r>
                    </a:p>
                  </a:txBody>
                  <a:tcPr>
                    <a:solidFill>
                      <a:srgbClr val="12141C"/>
                    </a:solidFill>
                  </a:tcPr>
                </a:tc>
                <a:tc>
                  <a:txBody>
                    <a:bodyPr/>
                    <a:lstStyle/>
                    <a:p>
                      <a:r>
                        <a:rPr>
                          <a:solidFill>
                            <a:srgbClr val="F59E0B"/>
                          </a:solidFill>
                        </a:rPr>
                        <a:t>1 Word document</a:t>
                      </a:r>
                    </a:p>
                  </a:txBody>
                  <a:tcPr>
                    <a:solidFill>
                      <a:srgbClr val="12141C"/>
                    </a:solidFill>
                  </a:tcPr>
                </a:tc>
                <a:tc>
                  <a:txBody>
                    <a:bodyPr/>
                    <a:lstStyle/>
                    <a:p>
                      <a:r>
                        <a:rPr>
                          <a:solidFill>
                            <a:srgbClr val="10B981"/>
                          </a:solidFill>
                        </a:rPr>
                        <a:t>4 structured deliverables</a:t>
                      </a:r>
                    </a:p>
                  </a:txBody>
                  <a:tcPr>
                    <a:solidFill>
                      <a:srgbClr val="12141C"/>
                    </a:solidFill>
                  </a:tcPr>
                </a:tc>
                <a:extLst>
                  <a:ext uri="{0D108BD9-81ED-4DB2-BD59-A6C34878D82A}">
                    <a16:rowId xmlns:a16="http://schemas.microsoft.com/office/drawing/2014/main" val="10004"/>
                  </a:ext>
                </a:extLst>
              </a:tr>
              <a:tr h="822960">
                <a:tc>
                  <a:txBody>
                    <a:bodyPr/>
                    <a:lstStyle/>
                    <a:p>
                      <a:r>
                        <a:rPr b="1">
                          <a:solidFill>
                            <a:srgbClr val="F8F8FC"/>
                          </a:solidFill>
                        </a:rPr>
                        <a:t>Reproducibility</a:t>
                      </a:r>
                    </a:p>
                  </a:txBody>
                  <a:tcPr>
                    <a:solidFill>
                      <a:srgbClr val="1A1D27"/>
                    </a:solidFill>
                  </a:tcPr>
                </a:tc>
                <a:tc>
                  <a:txBody>
                    <a:bodyPr/>
                    <a:lstStyle/>
                    <a:p>
                      <a:r>
                        <a:rPr>
                          <a:solidFill>
                            <a:srgbClr val="EF4444"/>
                          </a:solidFill>
                        </a:rPr>
                        <a:t>Not repeatable</a:t>
                      </a:r>
                    </a:p>
                  </a:txBody>
                  <a:tcPr>
                    <a:solidFill>
                      <a:srgbClr val="1A1D27"/>
                    </a:solidFill>
                  </a:tcPr>
                </a:tc>
                <a:tc>
                  <a:txBody>
                    <a:bodyPr/>
                    <a:lstStyle/>
                    <a:p>
                      <a:r>
                        <a:rPr>
                          <a:solidFill>
                            <a:srgbClr val="10B981"/>
                          </a:solidFill>
                        </a:rPr>
                        <a:t>Run again after code changes</a:t>
                      </a:r>
                    </a:p>
                  </a:txBody>
                  <a:tcPr>
                    <a:solidFill>
                      <a:srgbClr val="1A1D27"/>
                    </a:solidFill>
                  </a:tcPr>
                </a:tc>
                <a:extLst>
                  <a:ext uri="{0D108BD9-81ED-4DB2-BD59-A6C34878D82A}">
                    <a16:rowId xmlns:a16="http://schemas.microsoft.com/office/drawing/2014/main" val="10005"/>
                  </a:ext>
                </a:extLst>
              </a:tr>
              <a:tr h="822960">
                <a:tc>
                  <a:txBody>
                    <a:bodyPr/>
                    <a:lstStyle/>
                    <a:p>
                      <a:r>
                        <a:rPr b="1">
                          <a:solidFill>
                            <a:srgbClr val="F8F8FC"/>
                          </a:solidFill>
                        </a:rPr>
                        <a:t>Scale</a:t>
                      </a:r>
                    </a:p>
                  </a:txBody>
                  <a:tcPr>
                    <a:solidFill>
                      <a:srgbClr val="12141C"/>
                    </a:solidFill>
                  </a:tcPr>
                </a:tc>
                <a:tc>
                  <a:txBody>
                    <a:bodyPr/>
                    <a:lstStyle/>
                    <a:p>
                      <a:r>
                        <a:rPr>
                          <a:solidFill>
                            <a:srgbClr val="EF4444"/>
                          </a:solidFill>
                        </a:rPr>
                        <a:t>1 repo per engagement</a:t>
                      </a:r>
                    </a:p>
                  </a:txBody>
                  <a:tcPr>
                    <a:solidFill>
                      <a:srgbClr val="12141C"/>
                    </a:solidFill>
                  </a:tcPr>
                </a:tc>
                <a:tc>
                  <a:txBody>
                    <a:bodyPr/>
                    <a:lstStyle/>
                    <a:p>
                      <a:r>
                        <a:rPr>
                          <a:solidFill>
                            <a:srgbClr val="10B981"/>
                          </a:solidFill>
                        </a:rPr>
                        <a:t>Any repo, any stack</a:t>
                      </a:r>
                    </a:p>
                  </a:txBody>
                  <a:tcPr>
                    <a:solidFill>
                      <a:srgbClr val="12141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11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1277295" cy="502920"/>
          </a:xfrm>
          <a:prstGeom prst="rect">
            <a:avLst/>
          </a:prstGeom>
          <a:noFill/>
        </p:spPr>
        <p:txBody>
          <a:bodyPr wrap="square">
            <a:spAutoFit/>
          </a:bodyPr>
          <a:lstStyle/>
          <a:p>
            <a:pPr algn="l"/>
            <a:r>
              <a:rPr sz="2800" b="1" i="0">
                <a:solidFill>
                  <a:srgbClr val="F8F8FC"/>
                </a:solidFill>
                <a:latin typeface="Segoe UI"/>
              </a:rPr>
              <a:t>What You Can Do With This Today</a:t>
            </a:r>
          </a:p>
        </p:txBody>
      </p:sp>
      <p:sp>
        <p:nvSpPr>
          <p:cNvPr id="4" name="Oval 3"/>
          <p:cNvSpPr/>
          <p:nvPr/>
        </p:nvSpPr>
        <p:spPr>
          <a:xfrm>
            <a:off x="457200"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1</a:t>
            </a:r>
          </a:p>
        </p:txBody>
      </p:sp>
      <p:sp>
        <p:nvSpPr>
          <p:cNvPr id="5" name="TextBox 4"/>
          <p:cNvSpPr txBox="1"/>
          <p:nvPr/>
        </p:nvSpPr>
        <p:spPr>
          <a:xfrm>
            <a:off x="1005840" y="822960"/>
            <a:ext cx="4999024" cy="320040"/>
          </a:xfrm>
          <a:prstGeom prst="rect">
            <a:avLst/>
          </a:prstGeom>
          <a:noFill/>
        </p:spPr>
        <p:txBody>
          <a:bodyPr wrap="square">
            <a:spAutoFit/>
          </a:bodyPr>
          <a:lstStyle/>
          <a:p>
            <a:r>
              <a:rPr sz="1600" b="1" i="0">
                <a:solidFill>
                  <a:srgbClr val="F8F8FC"/>
                </a:solidFill>
                <a:latin typeface="Segoe UI"/>
              </a:rPr>
              <a:t>Add the Skill to Your Repository</a:t>
            </a:r>
          </a:p>
        </p:txBody>
      </p:sp>
      <p:sp>
        <p:nvSpPr>
          <p:cNvPr id="6" name="TextBox 5"/>
          <p:cNvSpPr txBox="1"/>
          <p:nvPr/>
        </p:nvSpPr>
        <p:spPr>
          <a:xfrm>
            <a:off x="1005840" y="1143000"/>
            <a:ext cx="4999024" cy="365760"/>
          </a:xfrm>
          <a:prstGeom prst="rect">
            <a:avLst/>
          </a:prstGeom>
          <a:noFill/>
        </p:spPr>
        <p:txBody>
          <a:bodyPr wrap="square">
            <a:spAutoFit/>
          </a:bodyPr>
          <a:lstStyle/>
          <a:p>
            <a:r>
              <a:rPr sz="1400" b="0" i="0">
                <a:solidFill>
                  <a:srgbClr val="9CA3AF"/>
                </a:solidFill>
                <a:latin typeface="Segoe UI"/>
              </a:rPr>
              <a:t>Copy the skill, prompts, and platform context to your repo's .github/ folder</a:t>
            </a:r>
          </a:p>
        </p:txBody>
      </p:sp>
      <p:sp>
        <p:nvSpPr>
          <p:cNvPr id="7" name="Oval 6"/>
          <p:cNvSpPr/>
          <p:nvPr/>
        </p:nvSpPr>
        <p:spPr>
          <a:xfrm>
            <a:off x="6187744" y="822960"/>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2</a:t>
            </a:r>
          </a:p>
        </p:txBody>
      </p:sp>
      <p:sp>
        <p:nvSpPr>
          <p:cNvPr id="8" name="TextBox 7"/>
          <p:cNvSpPr txBox="1"/>
          <p:nvPr/>
        </p:nvSpPr>
        <p:spPr>
          <a:xfrm>
            <a:off x="6736384" y="822960"/>
            <a:ext cx="4998110" cy="320040"/>
          </a:xfrm>
          <a:prstGeom prst="rect">
            <a:avLst/>
          </a:prstGeom>
          <a:noFill/>
        </p:spPr>
        <p:txBody>
          <a:bodyPr wrap="square">
            <a:spAutoFit/>
          </a:bodyPr>
          <a:lstStyle/>
          <a:p>
            <a:r>
              <a:rPr sz="1600" b="1" i="0">
                <a:solidFill>
                  <a:srgbClr val="F8F8FC"/>
                </a:solidFill>
                <a:latin typeface="Segoe UI"/>
              </a:rPr>
              <a:t>Update Platform Context</a:t>
            </a:r>
          </a:p>
        </p:txBody>
      </p:sp>
      <p:sp>
        <p:nvSpPr>
          <p:cNvPr id="9" name="TextBox 8"/>
          <p:cNvSpPr txBox="1"/>
          <p:nvPr/>
        </p:nvSpPr>
        <p:spPr>
          <a:xfrm>
            <a:off x="6736384" y="1143000"/>
            <a:ext cx="4998110" cy="365760"/>
          </a:xfrm>
          <a:prstGeom prst="rect">
            <a:avLst/>
          </a:prstGeom>
          <a:noFill/>
        </p:spPr>
        <p:txBody>
          <a:bodyPr wrap="square">
            <a:spAutoFit/>
          </a:bodyPr>
          <a:lstStyle/>
          <a:p>
            <a:r>
              <a:rPr sz="1400" b="0" i="0">
                <a:solidFill>
                  <a:srgbClr val="9CA3AF"/>
                </a:solidFill>
                <a:latin typeface="Segoe UI"/>
              </a:rPr>
              <a:t>Edit platform-context.instructions.md with your customer name, regions, and target state</a:t>
            </a:r>
          </a:p>
        </p:txBody>
      </p:sp>
      <p:sp>
        <p:nvSpPr>
          <p:cNvPr id="10" name="Oval 9"/>
          <p:cNvSpPr/>
          <p:nvPr/>
        </p:nvSpPr>
        <p:spPr>
          <a:xfrm>
            <a:off x="457200"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3</a:t>
            </a:r>
          </a:p>
        </p:txBody>
      </p:sp>
      <p:sp>
        <p:nvSpPr>
          <p:cNvPr id="11" name="TextBox 10"/>
          <p:cNvSpPr txBox="1"/>
          <p:nvPr/>
        </p:nvSpPr>
        <p:spPr>
          <a:xfrm>
            <a:off x="1005840" y="2834640"/>
            <a:ext cx="4999024" cy="320040"/>
          </a:xfrm>
          <a:prstGeom prst="rect">
            <a:avLst/>
          </a:prstGeom>
          <a:noFill/>
        </p:spPr>
        <p:txBody>
          <a:bodyPr wrap="square">
            <a:spAutoFit/>
          </a:bodyPr>
          <a:lstStyle/>
          <a:p>
            <a:r>
              <a:rPr sz="1600" b="1" i="0">
                <a:solidFill>
                  <a:srgbClr val="F8F8FC"/>
                </a:solidFill>
                <a:latin typeface="Segoe UI"/>
              </a:rPr>
              <a:t>Run /resiliency-research</a:t>
            </a:r>
          </a:p>
        </p:txBody>
      </p:sp>
      <p:sp>
        <p:nvSpPr>
          <p:cNvPr id="12" name="TextBox 11"/>
          <p:cNvSpPr txBox="1"/>
          <p:nvPr/>
        </p:nvSpPr>
        <p:spPr>
          <a:xfrm>
            <a:off x="1005840" y="3154680"/>
            <a:ext cx="4999024" cy="365760"/>
          </a:xfrm>
          <a:prstGeom prst="rect">
            <a:avLst/>
          </a:prstGeom>
          <a:noFill/>
        </p:spPr>
        <p:txBody>
          <a:bodyPr wrap="square">
            <a:spAutoFit/>
          </a:bodyPr>
          <a:lstStyle/>
          <a:p>
            <a:r>
              <a:rPr sz="1400" b="0" i="0">
                <a:solidFill>
                  <a:srgbClr val="9CA3AF"/>
                </a:solidFill>
                <a:latin typeface="Segoe UI"/>
              </a:rPr>
              <a:t>Point Copilot at your repository and let the skill execute all four phases automatically</a:t>
            </a:r>
          </a:p>
        </p:txBody>
      </p:sp>
      <p:sp>
        <p:nvSpPr>
          <p:cNvPr id="13" name="Oval 12"/>
          <p:cNvSpPr/>
          <p:nvPr/>
        </p:nvSpPr>
        <p:spPr>
          <a:xfrm>
            <a:off x="6187744" y="283464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8F8FC"/>
                </a:solidFill>
                <a:latin typeface="Segoe UI"/>
              </a:rPr>
              <a:t>4</a:t>
            </a:r>
          </a:p>
        </p:txBody>
      </p:sp>
      <p:sp>
        <p:nvSpPr>
          <p:cNvPr id="14" name="TextBox 13"/>
          <p:cNvSpPr txBox="1"/>
          <p:nvPr/>
        </p:nvSpPr>
        <p:spPr>
          <a:xfrm>
            <a:off x="6736384" y="2834640"/>
            <a:ext cx="4998110" cy="320040"/>
          </a:xfrm>
          <a:prstGeom prst="rect">
            <a:avLst/>
          </a:prstGeom>
          <a:noFill/>
        </p:spPr>
        <p:txBody>
          <a:bodyPr wrap="square">
            <a:spAutoFit/>
          </a:bodyPr>
          <a:lstStyle/>
          <a:p>
            <a:r>
              <a:rPr sz="1600" b="1" i="0">
                <a:solidFill>
                  <a:srgbClr val="F8F8FC"/>
                </a:solidFill>
                <a:latin typeface="Segoe UI"/>
              </a:rPr>
              <a:t>Deliver Three Reports</a:t>
            </a:r>
          </a:p>
        </p:txBody>
      </p:sp>
      <p:sp>
        <p:nvSpPr>
          <p:cNvPr id="15" name="TextBox 14"/>
          <p:cNvSpPr txBox="1"/>
          <p:nvPr/>
        </p:nvSpPr>
        <p:spPr>
          <a:xfrm>
            <a:off x="6736384" y="3154680"/>
            <a:ext cx="4998110" cy="365760"/>
          </a:xfrm>
          <a:prstGeom prst="rect">
            <a:avLst/>
          </a:prstGeom>
          <a:noFill/>
        </p:spPr>
        <p:txBody>
          <a:bodyPr wrap="square">
            <a:spAutoFit/>
          </a:bodyPr>
          <a:lstStyle/>
          <a:p>
            <a:r>
              <a:rPr sz="1400" b="0" i="0">
                <a:solidFill>
                  <a:srgbClr val="9CA3AF"/>
                </a:solidFill>
                <a:latin typeface="Segoe UI"/>
              </a:rPr>
              <a:t>Share Master Report with leadership, Developer Guide with engineering, Code-Level Assessment with architecture board</a:t>
            </a:r>
          </a:p>
        </p:txBody>
      </p:sp>
      <p:sp>
        <p:nvSpPr>
          <p:cNvPr id="16" name="Rounded Rectangle 15"/>
          <p:cNvSpPr/>
          <p:nvPr/>
        </p:nvSpPr>
        <p:spPr>
          <a:xfrm>
            <a:off x="457199" y="4556765"/>
            <a:ext cx="11277295" cy="1783080"/>
          </a:xfrm>
          <a:prstGeom prst="roundRect">
            <a:avLst/>
          </a:prstGeom>
          <a:solidFill>
            <a:srgbClr val="2D2D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4937759"/>
            <a:ext cx="11002975"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029200"/>
            <a:ext cx="10911535" cy="365760"/>
          </a:xfrm>
          <a:prstGeom prst="rect">
            <a:avLst/>
          </a:prstGeom>
          <a:noFill/>
        </p:spPr>
        <p:txBody>
          <a:bodyPr wrap="square">
            <a:spAutoFit/>
          </a:bodyPr>
          <a:lstStyle/>
          <a:p>
            <a:r>
              <a:rPr sz="1200" b="1" i="0">
                <a:solidFill>
                  <a:srgbClr val="F8F8FC"/>
                </a:solidFill>
                <a:latin typeface="Segoe UI"/>
              </a:rPr>
              <a:t>REUSABLE ACROSS EVERY ENGAGEMENT</a:t>
            </a:r>
          </a:p>
        </p:txBody>
      </p:sp>
      <p:sp>
        <p:nvSpPr>
          <p:cNvPr id="19" name="TextBox 18"/>
          <p:cNvSpPr txBox="1"/>
          <p:nvPr/>
        </p:nvSpPr>
        <p:spPr>
          <a:xfrm>
            <a:off x="640080" y="5486400"/>
            <a:ext cx="10911535" cy="320040"/>
          </a:xfrm>
          <a:prstGeom prst="rect">
            <a:avLst/>
          </a:prstGeom>
          <a:noFill/>
        </p:spPr>
        <p:txBody>
          <a:bodyPr wrap="square">
            <a:spAutoFit/>
          </a:bodyPr>
          <a:lstStyle/>
          <a:p>
            <a:r>
              <a:rPr sz="1400" b="0" i="0">
                <a:solidFill>
                  <a:srgbClr val="F8F8FC"/>
                </a:solidFill>
                <a:latin typeface="Segoe UI"/>
              </a:rPr>
              <a:t>• The skill is designed to be reused across repositories. Add new service-specific prompts as your platform grows.</a:t>
            </a:r>
          </a:p>
        </p:txBody>
      </p:sp>
      <p:sp>
        <p:nvSpPr>
          <p:cNvPr id="20" name="TextBox 19"/>
          <p:cNvSpPr txBox="1"/>
          <p:nvPr/>
        </p:nvSpPr>
        <p:spPr>
          <a:xfrm>
            <a:off x="640080" y="5806440"/>
            <a:ext cx="10911535" cy="320040"/>
          </a:xfrm>
          <a:prstGeom prst="rect">
            <a:avLst/>
          </a:prstGeom>
          <a:noFill/>
        </p:spPr>
        <p:txBody>
          <a:bodyPr wrap="square">
            <a:spAutoFit/>
          </a:bodyPr>
          <a:lstStyle/>
          <a:p>
            <a:r>
              <a:rPr sz="1400" b="0" i="0">
                <a:solidFill>
                  <a:srgbClr val="9CA3AF"/>
                </a:solidFill>
                <a:latin typeface="Segoe UI"/>
              </a:rPr>
              <a:t>• Re-run after each sprint to verify resolutions. One skill — every repository, every customer.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58C02-449F-ADDD-9E92-B4278589DF98}"/>
              </a:ext>
            </a:extLst>
          </p:cNvPr>
          <p:cNvPicPr>
            <a:picLocks noChangeAspect="1"/>
          </p:cNvPicPr>
          <p:nvPr/>
        </p:nvPicPr>
        <p:blipFill>
          <a:blip r:embed="rId2"/>
          <a:stretch>
            <a:fillRect/>
          </a:stretch>
        </p:blipFill>
        <p:spPr>
          <a:xfrm>
            <a:off x="6493244" y="3363867"/>
            <a:ext cx="5453224" cy="2112833"/>
          </a:xfrm>
          <a:prstGeom prst="rect">
            <a:avLst/>
          </a:prstGeom>
        </p:spPr>
      </p:pic>
      <p:pic>
        <p:nvPicPr>
          <p:cNvPr id="5" name="Picture 4">
            <a:extLst>
              <a:ext uri="{FF2B5EF4-FFF2-40B4-BE49-F238E27FC236}">
                <a16:creationId xmlns:a16="http://schemas.microsoft.com/office/drawing/2014/main" id="{A2006890-2DFE-7DE2-CAFC-43A3670D97F0}"/>
              </a:ext>
            </a:extLst>
          </p:cNvPr>
          <p:cNvPicPr>
            <a:picLocks noChangeAspect="1"/>
          </p:cNvPicPr>
          <p:nvPr/>
        </p:nvPicPr>
        <p:blipFill>
          <a:blip r:embed="rId3"/>
          <a:stretch>
            <a:fillRect/>
          </a:stretch>
        </p:blipFill>
        <p:spPr>
          <a:xfrm>
            <a:off x="29544" y="1259088"/>
            <a:ext cx="6098129" cy="1783344"/>
          </a:xfrm>
          <a:prstGeom prst="rect">
            <a:avLst/>
          </a:prstGeom>
        </p:spPr>
      </p:pic>
      <p:pic>
        <p:nvPicPr>
          <p:cNvPr id="8" name="Picture 7">
            <a:extLst>
              <a:ext uri="{FF2B5EF4-FFF2-40B4-BE49-F238E27FC236}">
                <a16:creationId xmlns:a16="http://schemas.microsoft.com/office/drawing/2014/main" id="{F16E5D3B-9280-1DD5-51CE-FBF08DCF675A}"/>
              </a:ext>
            </a:extLst>
          </p:cNvPr>
          <p:cNvPicPr>
            <a:picLocks noChangeAspect="1"/>
          </p:cNvPicPr>
          <p:nvPr/>
        </p:nvPicPr>
        <p:blipFill>
          <a:blip r:embed="rId4"/>
          <a:stretch>
            <a:fillRect/>
          </a:stretch>
        </p:blipFill>
        <p:spPr>
          <a:xfrm>
            <a:off x="37633" y="3241656"/>
            <a:ext cx="6081950" cy="2357256"/>
          </a:xfrm>
          <a:prstGeom prst="rect">
            <a:avLst/>
          </a:prstGeom>
        </p:spPr>
      </p:pic>
      <p:sp>
        <p:nvSpPr>
          <p:cNvPr id="10" name="TextBox 9">
            <a:extLst>
              <a:ext uri="{FF2B5EF4-FFF2-40B4-BE49-F238E27FC236}">
                <a16:creationId xmlns:a16="http://schemas.microsoft.com/office/drawing/2014/main" id="{F09A1BB9-914A-7FFC-9440-4F11501E0834}"/>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Miscellaneous</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3868009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CD9C-5E3F-4FEF-FEF8-97E820CF8B7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E65DC57-BE33-2D95-75D9-14E752E1FE11}"/>
              </a:ext>
            </a:extLst>
          </p:cNvPr>
          <p:cNvPicPr>
            <a:picLocks noChangeAspect="1"/>
          </p:cNvPicPr>
          <p:nvPr/>
        </p:nvPicPr>
        <p:blipFill>
          <a:blip r:embed="rId2"/>
          <a:stretch>
            <a:fillRect/>
          </a:stretch>
        </p:blipFill>
        <p:spPr>
          <a:xfrm>
            <a:off x="29544" y="1235121"/>
            <a:ext cx="11956627" cy="5097946"/>
          </a:xfrm>
          <a:prstGeom prst="rect">
            <a:avLst/>
          </a:prstGeom>
        </p:spPr>
      </p:pic>
      <p:sp>
        <p:nvSpPr>
          <p:cNvPr id="11" name="TextBox 10">
            <a:extLst>
              <a:ext uri="{FF2B5EF4-FFF2-40B4-BE49-F238E27FC236}">
                <a16:creationId xmlns:a16="http://schemas.microsoft.com/office/drawing/2014/main" id="{76F3012E-AF32-A95D-6936-D812B79CA799}"/>
              </a:ext>
            </a:extLst>
          </p:cNvPr>
          <p:cNvSpPr txBox="1"/>
          <p:nvPr/>
        </p:nvSpPr>
        <p:spPr>
          <a:xfrm>
            <a:off x="29544" y="290032"/>
            <a:ext cx="11277295" cy="523220"/>
          </a:xfrm>
          <a:prstGeom prst="rect">
            <a:avLst/>
          </a:prstGeom>
          <a:noFill/>
        </p:spPr>
        <p:txBody>
          <a:bodyPr wrap="square">
            <a:spAutoFit/>
          </a:bodyPr>
          <a:lstStyle/>
          <a:p>
            <a:pPr algn="l"/>
            <a:r>
              <a:rPr lang="en-US" sz="2800" b="1" i="0" dirty="0">
                <a:solidFill>
                  <a:srgbClr val="F8F8FC"/>
                </a:solidFill>
                <a:highlight>
                  <a:srgbClr val="000000"/>
                </a:highlight>
                <a:latin typeface="Segoe UI"/>
              </a:rPr>
              <a:t>HVE Agents Usage</a:t>
            </a:r>
            <a:endParaRPr sz="2800" b="1" i="0" dirty="0">
              <a:solidFill>
                <a:srgbClr val="F8F8FC"/>
              </a:solidFill>
              <a:highlight>
                <a:srgbClr val="000000"/>
              </a:highlight>
              <a:latin typeface="Segoe UI"/>
            </a:endParaRPr>
          </a:p>
        </p:txBody>
      </p:sp>
    </p:spTree>
    <p:extLst>
      <p:ext uri="{BB962C8B-B14F-4D97-AF65-F5344CB8AC3E}">
        <p14:creationId xmlns:p14="http://schemas.microsoft.com/office/powerpoint/2010/main" val="552817018"/>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865</TotalTime>
  <Words>1426</Words>
  <Application>Microsoft Office PowerPoint</Application>
  <PresentationFormat>Widescreen</PresentationFormat>
  <Paragraphs>190</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Montserrat</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Resiliency Research</dc:title>
  <dc:subject>HVE Resiliency Research Skill — End-to-End Automation for Architects</dc:subject>
  <dc:creator>GitHub Copilot</dc:creator>
  <cp:keywords>resiliency, copilot, skills, HVE, ecommerce-platform, automation</cp:keywords>
  <dc:description>generated using python-pptx</dc:description>
  <cp:lastModifiedBy>Amarnath Baranasi</cp:lastModifiedBy>
  <cp:revision>31</cp:revision>
  <dcterms:created xsi:type="dcterms:W3CDTF">2013-01-27T09:14:16Z</dcterms:created>
  <dcterms:modified xsi:type="dcterms:W3CDTF">2026-05-08T06:20:08Z</dcterms:modified>
  <cp:category>Architecture</cp:category>
</cp:coreProperties>
</file>